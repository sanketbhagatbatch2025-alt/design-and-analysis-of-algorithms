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1" i="0">
                <a:solidFill>
                  <a:srgbClr val="F5F5F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1" i="0">
                <a:solidFill>
                  <a:srgbClr val="F5F5F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1" i="0">
                <a:solidFill>
                  <a:srgbClr val="F5F5F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700" b="1" i="0">
                <a:solidFill>
                  <a:srgbClr val="F5F5F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573" y="2776724"/>
            <a:ext cx="1543049" cy="2285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8738" y="765234"/>
            <a:ext cx="7308215" cy="1705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700" b="1" i="0">
                <a:solidFill>
                  <a:srgbClr val="F5F5F5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18770" y="9645898"/>
            <a:ext cx="6675395" cy="41201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rgbClr val="FEFEF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Relationship Id="rId11" Type="http://schemas.openxmlformats.org/officeDocument/2006/relationships/image" Target="../media/image4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3.png"/><Relationship Id="rId13" Type="http://schemas.openxmlformats.org/officeDocument/2006/relationships/image" Target="../media/image5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Relationship Id="rId4" Type="http://schemas.openxmlformats.org/officeDocument/2006/relationships/image" Target="../media/image65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73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76.png"/><Relationship Id="rId16" Type="http://schemas.openxmlformats.org/officeDocument/2006/relationships/image" Target="../media/image7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jpg"/><Relationship Id="rId3" Type="http://schemas.openxmlformats.org/officeDocument/2006/relationships/image" Target="../media/image79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84.png"/><Relationship Id="rId9" Type="http://schemas.openxmlformats.org/officeDocument/2006/relationships/image" Target="../media/image8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Relationship Id="rId7" Type="http://schemas.openxmlformats.org/officeDocument/2006/relationships/image" Target="../media/image91.png"/><Relationship Id="rId8" Type="http://schemas.openxmlformats.org/officeDocument/2006/relationships/image" Target="../media/image9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73453" y="1129098"/>
            <a:ext cx="8226425" cy="4889500"/>
          </a:xfrm>
          <a:prstGeom prst="rect"/>
        </p:spPr>
        <p:txBody>
          <a:bodyPr wrap="square" lIns="0" tIns="189865" rIns="0" bIns="0" rtlCol="0" vert="horz">
            <a:spAutoFit/>
          </a:bodyPr>
          <a:lstStyle/>
          <a:p>
            <a:pPr marL="23495" marR="1141730">
              <a:lnSpc>
                <a:spcPts val="9000"/>
              </a:lnSpc>
              <a:spcBef>
                <a:spcPts val="1495"/>
              </a:spcBef>
            </a:pPr>
            <a:r>
              <a:rPr dirty="0" sz="8600" spc="-459">
                <a:solidFill>
                  <a:srgbClr val="FEFEFE"/>
                </a:solidFill>
              </a:rPr>
              <a:t>Minimum </a:t>
            </a:r>
            <a:r>
              <a:rPr dirty="0" sz="8600" spc="-615">
                <a:solidFill>
                  <a:srgbClr val="FEFEFE"/>
                </a:solidFill>
              </a:rPr>
              <a:t>Spanning</a:t>
            </a:r>
            <a:r>
              <a:rPr dirty="0" sz="8600" spc="-509">
                <a:solidFill>
                  <a:srgbClr val="FEFEFE"/>
                </a:solidFill>
              </a:rPr>
              <a:t> </a:t>
            </a:r>
            <a:r>
              <a:rPr dirty="0" sz="8600" spc="-405">
                <a:solidFill>
                  <a:srgbClr val="FEFEFE"/>
                </a:solidFill>
              </a:rPr>
              <a:t>Tree </a:t>
            </a:r>
            <a:r>
              <a:rPr dirty="0" sz="8600" spc="-475">
                <a:solidFill>
                  <a:srgbClr val="FEFEFE"/>
                </a:solidFill>
              </a:rPr>
              <a:t>Using</a:t>
            </a:r>
            <a:endParaRPr sz="8600"/>
          </a:p>
          <a:p>
            <a:pPr marL="12700">
              <a:lnSpc>
                <a:spcPts val="9900"/>
              </a:lnSpc>
            </a:pPr>
            <a:r>
              <a:rPr dirty="0" sz="8500" spc="-490">
                <a:solidFill>
                  <a:srgbClr val="3CB8AC"/>
                </a:solidFill>
              </a:rPr>
              <a:t>Prim’s</a:t>
            </a:r>
            <a:r>
              <a:rPr dirty="0" sz="8500" spc="-509">
                <a:solidFill>
                  <a:srgbClr val="3CB8AC"/>
                </a:solidFill>
              </a:rPr>
              <a:t> </a:t>
            </a:r>
            <a:r>
              <a:rPr dirty="0" sz="8500" spc="-440">
                <a:solidFill>
                  <a:srgbClr val="3CB8AC"/>
                </a:solidFill>
              </a:rPr>
              <a:t>Algorithm</a:t>
            </a:r>
            <a:endParaRPr sz="85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28" y="6209355"/>
            <a:ext cx="1971674" cy="4381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7319" y="6903792"/>
            <a:ext cx="7505065" cy="5702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550">
                <a:solidFill>
                  <a:srgbClr val="FEFEFE"/>
                </a:solidFill>
                <a:latin typeface="Tahoma"/>
                <a:cs typeface="Tahoma"/>
              </a:rPr>
              <a:t>Graph</a:t>
            </a:r>
            <a:r>
              <a:rPr dirty="0" sz="35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550">
                <a:solidFill>
                  <a:srgbClr val="FEFEFE"/>
                </a:solidFill>
                <a:latin typeface="Tahoma"/>
                <a:cs typeface="Tahoma"/>
              </a:rPr>
              <a:t>Theory</a:t>
            </a:r>
            <a:r>
              <a:rPr dirty="0" sz="35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550">
                <a:solidFill>
                  <a:srgbClr val="FEFEFE"/>
                </a:solidFill>
                <a:latin typeface="Tahoma"/>
                <a:cs typeface="Tahoma"/>
              </a:rPr>
              <a:t>and</a:t>
            </a:r>
            <a:r>
              <a:rPr dirty="0" sz="35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550" spc="60">
                <a:solidFill>
                  <a:srgbClr val="FEFEFE"/>
                </a:solidFill>
                <a:latin typeface="Tahoma"/>
                <a:cs typeface="Tahoma"/>
              </a:rPr>
              <a:t>Greedy</a:t>
            </a:r>
            <a:r>
              <a:rPr dirty="0" sz="35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550" spc="-10">
                <a:solidFill>
                  <a:srgbClr val="FEFEFE"/>
                </a:solidFill>
                <a:latin typeface="Tahoma"/>
                <a:cs typeface="Tahoma"/>
              </a:rPr>
              <a:t>Algorithms</a:t>
            </a:r>
            <a:endParaRPr sz="35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70567" y="1071335"/>
            <a:ext cx="7848599" cy="707706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01852" y="1071335"/>
            <a:ext cx="1314449" cy="150494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3347853" y="1161597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4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439076" y="1418816"/>
            <a:ext cx="489584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85" b="1">
                <a:solidFill>
                  <a:srgbClr val="FEFEFE"/>
                </a:solidFill>
                <a:latin typeface="Tahoma"/>
                <a:cs typeface="Tahoma"/>
              </a:rPr>
              <a:t>A</a:t>
            </a:r>
            <a:endParaRPr sz="5100">
              <a:latin typeface="Tahoma"/>
              <a:cs typeface="Tahom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798833" y="1071335"/>
            <a:ext cx="1314449" cy="15049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5203183" y="1418816"/>
            <a:ext cx="462915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50" b="1">
                <a:solidFill>
                  <a:srgbClr val="FEFEFE"/>
                </a:solidFill>
                <a:latin typeface="Tahoma"/>
                <a:cs typeface="Tahoma"/>
              </a:rPr>
              <a:t>B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08213" y="2773107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2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205103" y="2833350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7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241072" y="2773107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6</a:t>
            </a:r>
            <a:endParaRPr sz="3900">
              <a:latin typeface="Tahoma"/>
              <a:cs typeface="Tahoma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70567" y="3848069"/>
            <a:ext cx="1543049" cy="15239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3347853" y="3917730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3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91165" y="4190011"/>
            <a:ext cx="453390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50" b="1">
                <a:solidFill>
                  <a:srgbClr val="FEFEFE"/>
                </a:solidFill>
                <a:latin typeface="Tahoma"/>
                <a:cs typeface="Tahoma"/>
              </a:rPr>
              <a:t>C</a:t>
            </a:r>
            <a:endParaRPr sz="51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100449" y="3848069"/>
            <a:ext cx="1323974" cy="1523999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6512790" y="4190011"/>
            <a:ext cx="522605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50" b="1">
                <a:solidFill>
                  <a:srgbClr val="FEFEFE"/>
                </a:solidFill>
                <a:latin typeface="Tahoma"/>
                <a:cs typeface="Tahoma"/>
              </a:rPr>
              <a:t>D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08213" y="5875639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5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803267" y="5725031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8</a:t>
            </a:r>
            <a:endParaRPr sz="39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241072" y="5860579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1</a:t>
            </a:r>
            <a:endParaRPr sz="390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101852" y="6854357"/>
            <a:ext cx="1314449" cy="1285859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1484233" y="7141936"/>
            <a:ext cx="399415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150" b="1">
                <a:solidFill>
                  <a:srgbClr val="FEFEFE"/>
                </a:solidFill>
                <a:latin typeface="Tahoma"/>
                <a:cs typeface="Tahoma"/>
              </a:rPr>
              <a:t>E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47853" y="7652819"/>
            <a:ext cx="315595" cy="625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95">
                <a:solidFill>
                  <a:srgbClr val="FEFEFE"/>
                </a:solidFill>
                <a:latin typeface="Tahoma"/>
                <a:cs typeface="Tahoma"/>
              </a:rPr>
              <a:t>2</a:t>
            </a:r>
            <a:endParaRPr sz="3900">
              <a:latin typeface="Tahoma"/>
              <a:cs typeface="Tahoma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798833" y="6854357"/>
            <a:ext cx="1314449" cy="1285859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15236882" y="7141936"/>
            <a:ext cx="395605" cy="8083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5100" spc="-50" b="1">
                <a:solidFill>
                  <a:srgbClr val="FEFEFE"/>
                </a:solidFill>
                <a:latin typeface="Tahoma"/>
                <a:cs typeface="Tahoma"/>
              </a:rPr>
              <a:t>F</a:t>
            </a:r>
            <a:endParaRPr sz="51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997040"/>
            <a:ext cx="18287999" cy="128585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614225" y="9392755"/>
            <a:ext cx="6747509" cy="4044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Sanket</a:t>
            </a:r>
            <a:r>
              <a:rPr dirty="0" sz="24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Bhagat</a:t>
            </a:r>
            <a:r>
              <a:rPr dirty="0" sz="24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320">
                <a:solidFill>
                  <a:srgbClr val="FEFEFE"/>
                </a:solidFill>
                <a:latin typeface="Tahoma"/>
                <a:cs typeface="Tahoma"/>
              </a:rPr>
              <a:t>|</a:t>
            </a:r>
            <a:r>
              <a:rPr dirty="0" sz="24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PRN:</a:t>
            </a:r>
            <a:r>
              <a:rPr dirty="0" sz="2450" spc="-9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85">
                <a:solidFill>
                  <a:srgbClr val="FEFEFE"/>
                </a:solidFill>
                <a:latin typeface="Tahoma"/>
                <a:cs typeface="Tahoma"/>
              </a:rPr>
              <a:t>26070521504</a:t>
            </a:r>
            <a:r>
              <a:rPr dirty="0" sz="24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320">
                <a:solidFill>
                  <a:srgbClr val="FEFEFE"/>
                </a:solidFill>
                <a:latin typeface="Tahoma"/>
                <a:cs typeface="Tahoma"/>
              </a:rPr>
              <a:t>|</a:t>
            </a:r>
            <a:r>
              <a:rPr dirty="0" sz="24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50">
                <a:solidFill>
                  <a:srgbClr val="FEFEFE"/>
                </a:solidFill>
                <a:latin typeface="Tahoma"/>
                <a:cs typeface="Tahoma"/>
              </a:rPr>
              <a:t>Division</a:t>
            </a:r>
            <a:r>
              <a:rPr dirty="0" sz="24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155">
                <a:solidFill>
                  <a:srgbClr val="FEFEFE"/>
                </a:solidFill>
                <a:latin typeface="Tahoma"/>
                <a:cs typeface="Tahoma"/>
              </a:rPr>
              <a:t>D</a:t>
            </a:r>
            <a:endParaRPr sz="24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03697" y="697194"/>
            <a:ext cx="7141209" cy="1719580"/>
          </a:xfrm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12700" marR="5080">
              <a:lnSpc>
                <a:spcPts val="6470"/>
              </a:lnSpc>
              <a:spcBef>
                <a:spcPts val="595"/>
              </a:spcBef>
            </a:pPr>
            <a:r>
              <a:rPr dirty="0" spc="-25"/>
              <a:t>INTRODUCTION</a:t>
            </a:r>
            <a:r>
              <a:rPr dirty="0" spc="-340"/>
              <a:t> </a:t>
            </a:r>
            <a:r>
              <a:rPr dirty="0" spc="160"/>
              <a:t>TO </a:t>
            </a:r>
            <a:r>
              <a:rPr dirty="0" spc="-10">
                <a:solidFill>
                  <a:srgbClr val="45CCBA"/>
                </a:solidFill>
              </a:rPr>
              <a:t>GRAPHS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28" y="2776724"/>
            <a:ext cx="1323974" cy="228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5740" y="3385017"/>
            <a:ext cx="7347584" cy="38188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05"/>
              </a:spcBef>
            </a:pPr>
            <a:r>
              <a:rPr dirty="0" sz="2700" spc="-175" b="1">
                <a:solidFill>
                  <a:srgbClr val="45CCBA"/>
                </a:solidFill>
                <a:latin typeface="Tahoma"/>
                <a:cs typeface="Tahoma"/>
              </a:rPr>
              <a:t>Graph:</a:t>
            </a:r>
            <a:r>
              <a:rPr dirty="0" sz="2700" spc="-1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 spc="195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700" spc="-2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set</a:t>
            </a:r>
            <a:r>
              <a:rPr dirty="0" sz="270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F5F5F5"/>
                </a:solidFill>
                <a:latin typeface="Tahoma"/>
                <a:cs typeface="Tahoma"/>
              </a:rPr>
              <a:t>of</a:t>
            </a:r>
            <a:r>
              <a:rPr dirty="0" sz="270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vertices</a:t>
            </a:r>
            <a:r>
              <a:rPr dirty="0" sz="2700" spc="-2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F5F5F5"/>
                </a:solidFill>
                <a:latin typeface="Tahoma"/>
                <a:cs typeface="Tahoma"/>
              </a:rPr>
              <a:t>connected</a:t>
            </a:r>
            <a:r>
              <a:rPr dirty="0" sz="270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by</a:t>
            </a:r>
            <a:r>
              <a:rPr dirty="0" sz="2700" spc="-2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edges</a:t>
            </a:r>
            <a:endParaRPr sz="2700">
              <a:latin typeface="Tahoma"/>
              <a:cs typeface="Tahoma"/>
            </a:endParaRPr>
          </a:p>
          <a:p>
            <a:pPr marL="24130">
              <a:lnSpc>
                <a:spcPct val="100000"/>
              </a:lnSpc>
              <a:spcBef>
                <a:spcPts val="2570"/>
              </a:spcBef>
            </a:pPr>
            <a:r>
              <a:rPr dirty="0" sz="2700" spc="-130" b="1">
                <a:solidFill>
                  <a:srgbClr val="45CCBA"/>
                </a:solidFill>
                <a:latin typeface="Tahoma"/>
                <a:cs typeface="Tahoma"/>
              </a:rPr>
              <a:t>Vertices:</a:t>
            </a:r>
            <a:r>
              <a:rPr dirty="0" sz="270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points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or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nodes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in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 graph</a:t>
            </a:r>
            <a:endParaRPr sz="2700">
              <a:latin typeface="Tahoma"/>
              <a:cs typeface="Tahoma"/>
            </a:endParaRPr>
          </a:p>
          <a:p>
            <a:pPr marL="22225">
              <a:lnSpc>
                <a:spcPct val="100000"/>
              </a:lnSpc>
              <a:spcBef>
                <a:spcPts val="2450"/>
              </a:spcBef>
            </a:pPr>
            <a:r>
              <a:rPr dirty="0" sz="2700" spc="-190" b="1">
                <a:solidFill>
                  <a:srgbClr val="45CCBA"/>
                </a:solidFill>
                <a:latin typeface="Tahoma"/>
                <a:cs typeface="Tahoma"/>
              </a:rPr>
              <a:t>Edges:</a:t>
            </a:r>
            <a:r>
              <a:rPr dirty="0" sz="2700" spc="-45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70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F5F5F5"/>
                </a:solidFill>
                <a:latin typeface="Tahoma"/>
                <a:cs typeface="Tahoma"/>
              </a:rPr>
              <a:t>connections</a:t>
            </a:r>
            <a:r>
              <a:rPr dirty="0" sz="2700" spc="-6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F5F5F5"/>
                </a:solidFill>
                <a:latin typeface="Tahoma"/>
                <a:cs typeface="Tahoma"/>
              </a:rPr>
              <a:t>between</a:t>
            </a:r>
            <a:r>
              <a:rPr dirty="0" sz="270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vertices</a:t>
            </a:r>
            <a:endParaRPr sz="2700">
              <a:latin typeface="Tahoma"/>
              <a:cs typeface="Tahoma"/>
            </a:endParaRPr>
          </a:p>
          <a:p>
            <a:pPr marL="13335" indent="-1270">
              <a:lnSpc>
                <a:spcPct val="100000"/>
              </a:lnSpc>
              <a:spcBef>
                <a:spcPts val="2690"/>
              </a:spcBef>
            </a:pPr>
            <a:r>
              <a:rPr dirty="0" sz="2700" spc="-130" b="1">
                <a:solidFill>
                  <a:srgbClr val="45CCBA"/>
                </a:solidFill>
                <a:latin typeface="Tahoma"/>
                <a:cs typeface="Tahoma"/>
              </a:rPr>
              <a:t>Weighted</a:t>
            </a:r>
            <a:r>
              <a:rPr dirty="0" sz="2700" spc="-2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 spc="-210" b="1">
                <a:solidFill>
                  <a:srgbClr val="45CCBA"/>
                </a:solidFill>
                <a:latin typeface="Tahoma"/>
                <a:cs typeface="Tahoma"/>
              </a:rPr>
              <a:t>graph:</a:t>
            </a:r>
            <a:r>
              <a:rPr dirty="0" sz="2700" spc="-1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Edges</a:t>
            </a:r>
            <a:r>
              <a:rPr dirty="0" sz="2700" spc="-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have</a:t>
            </a:r>
            <a:r>
              <a:rPr dirty="0" sz="270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numerical</a:t>
            </a:r>
            <a:r>
              <a:rPr dirty="0" sz="270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weights</a:t>
            </a:r>
            <a:endParaRPr sz="2700">
              <a:latin typeface="Tahoma"/>
              <a:cs typeface="Tahoma"/>
            </a:endParaRPr>
          </a:p>
          <a:p>
            <a:pPr marL="13335" marR="180340">
              <a:lnSpc>
                <a:spcPct val="114799"/>
              </a:lnSpc>
              <a:spcBef>
                <a:spcPts val="2160"/>
              </a:spcBef>
            </a:pPr>
            <a:r>
              <a:rPr dirty="0" sz="2550" spc="-120" b="1">
                <a:solidFill>
                  <a:srgbClr val="45CCBA"/>
                </a:solidFill>
                <a:latin typeface="Tahoma"/>
                <a:cs typeface="Tahoma"/>
              </a:rPr>
              <a:t>Connected</a:t>
            </a:r>
            <a:r>
              <a:rPr dirty="0" sz="2550" spc="-35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550" spc="-195" b="1">
                <a:solidFill>
                  <a:srgbClr val="45CCBA"/>
                </a:solidFill>
                <a:latin typeface="Tahoma"/>
                <a:cs typeface="Tahoma"/>
              </a:rPr>
              <a:t>graph:</a:t>
            </a:r>
            <a:r>
              <a:rPr dirty="0" sz="2550" spc="-35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There</a:t>
            </a:r>
            <a:r>
              <a:rPr dirty="0" sz="255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is</a:t>
            </a:r>
            <a:r>
              <a:rPr dirty="0" sz="2550" spc="-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55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path</a:t>
            </a:r>
            <a:r>
              <a:rPr dirty="0" sz="2550" spc="-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55">
                <a:solidFill>
                  <a:srgbClr val="F5F5F5"/>
                </a:solidFill>
                <a:latin typeface="Tahoma"/>
                <a:cs typeface="Tahoma"/>
              </a:rPr>
              <a:t>between</a:t>
            </a:r>
            <a:r>
              <a:rPr dirty="0" sz="255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-10">
                <a:solidFill>
                  <a:srgbClr val="F5F5F5"/>
                </a:solidFill>
                <a:latin typeface="Tahoma"/>
                <a:cs typeface="Tahoma"/>
              </a:rPr>
              <a:t>every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pair</a:t>
            </a:r>
            <a:r>
              <a:rPr dirty="0" sz="2550" spc="-6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85">
                <a:solidFill>
                  <a:srgbClr val="F5F5F5"/>
                </a:solidFill>
                <a:latin typeface="Tahoma"/>
                <a:cs typeface="Tahoma"/>
              </a:rPr>
              <a:t>of</a:t>
            </a:r>
            <a:r>
              <a:rPr dirty="0" sz="25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-10">
                <a:solidFill>
                  <a:srgbClr val="F5F5F5"/>
                </a:solidFill>
                <a:latin typeface="Tahoma"/>
                <a:cs typeface="Tahoma"/>
              </a:rPr>
              <a:t>vertices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9040" y="7535936"/>
            <a:ext cx="6932930" cy="918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95"/>
              </a:spcBef>
            </a:pPr>
            <a:r>
              <a:rPr dirty="0" sz="2550" spc="-185" b="1">
                <a:solidFill>
                  <a:srgbClr val="45CCBA"/>
                </a:solidFill>
                <a:latin typeface="Tahoma"/>
                <a:cs typeface="Tahoma"/>
              </a:rPr>
              <a:t>Spanning</a:t>
            </a:r>
            <a:r>
              <a:rPr dirty="0" sz="2550" spc="-15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550" spc="-155" b="1">
                <a:solidFill>
                  <a:srgbClr val="45CCBA"/>
                </a:solidFill>
                <a:latin typeface="Tahoma"/>
                <a:cs typeface="Tahoma"/>
              </a:rPr>
              <a:t>tree:</a:t>
            </a:r>
            <a:r>
              <a:rPr dirty="0" sz="2550" spc="-1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550" spc="210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550" spc="-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subset</a:t>
            </a:r>
            <a:r>
              <a:rPr dirty="0" sz="255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85">
                <a:solidFill>
                  <a:srgbClr val="F5F5F5"/>
                </a:solidFill>
                <a:latin typeface="Tahoma"/>
                <a:cs typeface="Tahoma"/>
              </a:rPr>
              <a:t>of</a:t>
            </a:r>
            <a:r>
              <a:rPr dirty="0" sz="2550" spc="-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edges</a:t>
            </a:r>
            <a:r>
              <a:rPr dirty="0" sz="255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that</a:t>
            </a:r>
            <a:r>
              <a:rPr dirty="0" sz="255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35">
                <a:solidFill>
                  <a:srgbClr val="F5F5F5"/>
                </a:solidFill>
                <a:latin typeface="Tahoma"/>
                <a:cs typeface="Tahoma"/>
              </a:rPr>
              <a:t>connects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all</a:t>
            </a:r>
            <a:r>
              <a:rPr dirty="0" sz="2550" spc="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vertices</a:t>
            </a:r>
            <a:r>
              <a:rPr dirty="0" sz="2550" spc="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65">
                <a:solidFill>
                  <a:srgbClr val="F5F5F5"/>
                </a:solidFill>
                <a:latin typeface="Tahoma"/>
                <a:cs typeface="Tahoma"/>
              </a:rPr>
              <a:t>without</a:t>
            </a:r>
            <a:r>
              <a:rPr dirty="0" sz="2550" spc="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>
                <a:solidFill>
                  <a:srgbClr val="F5F5F5"/>
                </a:solidFill>
                <a:latin typeface="Tahoma"/>
                <a:cs typeface="Tahoma"/>
              </a:rPr>
              <a:t>any</a:t>
            </a:r>
            <a:r>
              <a:rPr dirty="0" sz="2550" spc="2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550" spc="-10">
                <a:solidFill>
                  <a:srgbClr val="F5F5F5"/>
                </a:solidFill>
                <a:latin typeface="Tahoma"/>
                <a:cs typeface="Tahoma"/>
              </a:rPr>
              <a:t>cycles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0" y="634053"/>
            <a:ext cx="8496299" cy="837248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38107" y="1246762"/>
            <a:ext cx="7338695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35" b="1">
                <a:solidFill>
                  <a:srgbClr val="45CCBA"/>
                </a:solidFill>
                <a:latin typeface="Tahoma"/>
                <a:cs typeface="Tahoma"/>
              </a:rPr>
              <a:t>EXAMPLE:</a:t>
            </a:r>
            <a:r>
              <a:rPr dirty="0" sz="2700" spc="-12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 spc="-70" b="1">
                <a:solidFill>
                  <a:srgbClr val="45CCBA"/>
                </a:solidFill>
                <a:latin typeface="Tahoma"/>
                <a:cs typeface="Tahoma"/>
              </a:rPr>
              <a:t>UNDIRECTED</a:t>
            </a:r>
            <a:r>
              <a:rPr dirty="0" sz="2700" spc="-12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 spc="-60" b="1">
                <a:solidFill>
                  <a:srgbClr val="45CCBA"/>
                </a:solidFill>
                <a:latin typeface="Tahoma"/>
                <a:cs typeface="Tahoma"/>
              </a:rPr>
              <a:t>WEIGHTED</a:t>
            </a:r>
            <a:r>
              <a:rPr dirty="0" sz="2700" spc="-120" b="1">
                <a:solidFill>
                  <a:srgbClr val="45CCBA"/>
                </a:solidFill>
                <a:latin typeface="Tahoma"/>
                <a:cs typeface="Tahoma"/>
              </a:rPr>
              <a:t> </a:t>
            </a:r>
            <a:r>
              <a:rPr dirty="0" sz="2700" spc="-10" b="1">
                <a:solidFill>
                  <a:srgbClr val="45CCBA"/>
                </a:solidFill>
                <a:latin typeface="Tahoma"/>
                <a:cs typeface="Tahoma"/>
              </a:rPr>
              <a:t>GRAPH</a:t>
            </a:r>
            <a:endParaRPr sz="27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008077" y="2350388"/>
            <a:ext cx="6761480" cy="5363845"/>
            <a:chOff x="10008077" y="2350388"/>
            <a:chExt cx="6761480" cy="536384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08077" y="2350388"/>
              <a:ext cx="1533524" cy="13049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008077" y="6428018"/>
              <a:ext cx="1533524" cy="128585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455097" y="2350388"/>
              <a:ext cx="1314449" cy="130491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0564793" y="2682522"/>
            <a:ext cx="566039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273040" algn="l"/>
              </a:tabLst>
            </a:pPr>
            <a:r>
              <a:rPr dirty="0" sz="4450" spc="-50" b="1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4450" b="1">
                <a:solidFill>
                  <a:srgbClr val="F5F5F5"/>
                </a:solidFill>
                <a:latin typeface="Tahoma"/>
                <a:cs typeface="Tahoma"/>
              </a:rPr>
              <a:t>	</a:t>
            </a:r>
            <a:r>
              <a:rPr dirty="0" sz="4450" spc="-50" b="1">
                <a:solidFill>
                  <a:srgbClr val="F5F5F5"/>
                </a:solidFill>
                <a:latin typeface="Tahoma"/>
                <a:cs typeface="Tahoma"/>
              </a:rPr>
              <a:t>B</a:t>
            </a:r>
            <a:endParaRPr sz="445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235368" y="2325515"/>
            <a:ext cx="27622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45" b="1">
                <a:solidFill>
                  <a:srgbClr val="F5F5F5"/>
                </a:solidFill>
                <a:latin typeface="Tahoma"/>
                <a:cs typeface="Tahoma"/>
              </a:rPr>
              <a:t>4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455096" y="6428018"/>
            <a:ext cx="1314449" cy="128585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5796400" y="6673645"/>
            <a:ext cx="457834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-50" b="1">
                <a:solidFill>
                  <a:srgbClr val="F5F5F5"/>
                </a:solidFill>
                <a:latin typeface="Tahoma"/>
                <a:cs typeface="Tahoma"/>
              </a:rPr>
              <a:t>D</a:t>
            </a:r>
            <a:endParaRPr sz="445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664342" y="2995363"/>
            <a:ext cx="5447665" cy="4297680"/>
            <a:chOff x="10664342" y="2995363"/>
            <a:chExt cx="5447665" cy="4297680"/>
          </a:xfrm>
        </p:grpSpPr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64342" y="3421715"/>
              <a:ext cx="228599" cy="322895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892607" y="3421715"/>
              <a:ext cx="219074" cy="322895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101852" y="2995363"/>
              <a:ext cx="4362449" cy="22859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101852" y="6854342"/>
              <a:ext cx="4362449" cy="4381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101852" y="2995363"/>
              <a:ext cx="4362449" cy="407669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3771150" y="4494276"/>
            <a:ext cx="27622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45" b="1">
                <a:solidFill>
                  <a:srgbClr val="F5F5F5"/>
                </a:solidFill>
                <a:latin typeface="Tahoma"/>
                <a:cs typeface="Tahoma"/>
              </a:rPr>
              <a:t>5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81416" y="4735249"/>
            <a:ext cx="27622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45" b="1">
                <a:solidFill>
                  <a:srgbClr val="F5F5F5"/>
                </a:solidFill>
                <a:latin typeface="Tahoma"/>
                <a:cs typeface="Tahoma"/>
              </a:rPr>
              <a:t>2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6316111" y="4735249"/>
            <a:ext cx="27622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45" b="1">
                <a:solidFill>
                  <a:srgbClr val="F5F5F5"/>
                </a:solidFill>
                <a:latin typeface="Tahoma"/>
                <a:cs typeface="Tahoma"/>
              </a:rPr>
              <a:t>1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573900" y="6673645"/>
            <a:ext cx="401320" cy="7073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450" spc="-50" b="1">
                <a:solidFill>
                  <a:srgbClr val="F5F5F5"/>
                </a:solidFill>
                <a:latin typeface="Tahoma"/>
                <a:cs typeface="Tahoma"/>
              </a:rPr>
              <a:t>C</a:t>
            </a:r>
            <a:endParaRPr sz="445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235368" y="7205226"/>
            <a:ext cx="276225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145" b="1">
                <a:solidFill>
                  <a:srgbClr val="F5F5F5"/>
                </a:solidFill>
                <a:latin typeface="Tahoma"/>
                <a:cs typeface="Tahoma"/>
              </a:rPr>
              <a:t>3</a:t>
            </a:r>
            <a:endParaRPr sz="3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204746"/>
            <a:ext cx="18287999" cy="1082265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00">
                <a:solidFill>
                  <a:srgbClr val="F5F5F5"/>
                </a:solidFill>
              </a:rPr>
              <a:t>26070521504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">
                <a:solidFill>
                  <a:srgbClr val="F5F5F5"/>
                </a:solidFill>
              </a:rPr>
              <a:t> </a:t>
            </a:r>
            <a:r>
              <a:rPr dirty="0" spc="65">
                <a:solidFill>
                  <a:srgbClr val="F5F5F5"/>
                </a:solidFill>
              </a:rPr>
              <a:t>Division</a:t>
            </a:r>
            <a:r>
              <a:rPr dirty="0" spc="-10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2367" y="692038"/>
            <a:ext cx="9247505" cy="17919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6955"/>
              </a:lnSpc>
              <a:spcBef>
                <a:spcPts val="100"/>
              </a:spcBef>
            </a:pPr>
            <a:r>
              <a:rPr dirty="0" sz="6200" spc="-210"/>
              <a:t>What</a:t>
            </a:r>
            <a:r>
              <a:rPr dirty="0" sz="6200" spc="-260"/>
              <a:t> </a:t>
            </a:r>
            <a:r>
              <a:rPr dirty="0" sz="6200" spc="-310"/>
              <a:t>is</a:t>
            </a:r>
            <a:r>
              <a:rPr dirty="0" sz="6200" spc="-260"/>
              <a:t> </a:t>
            </a:r>
            <a:r>
              <a:rPr dirty="0" sz="6200" spc="-580"/>
              <a:t>a</a:t>
            </a:r>
            <a:endParaRPr sz="6200"/>
          </a:p>
          <a:p>
            <a:pPr marL="12700">
              <a:lnSpc>
                <a:spcPts val="6955"/>
              </a:lnSpc>
            </a:pPr>
            <a:r>
              <a:rPr dirty="0" sz="6200" spc="-285">
                <a:solidFill>
                  <a:srgbClr val="3ABEB1"/>
                </a:solidFill>
              </a:rPr>
              <a:t>Minimum</a:t>
            </a:r>
            <a:r>
              <a:rPr dirty="0" sz="6200" spc="-229">
                <a:solidFill>
                  <a:srgbClr val="3ABEB1"/>
                </a:solidFill>
              </a:rPr>
              <a:t> </a:t>
            </a:r>
            <a:r>
              <a:rPr dirty="0" sz="6200" spc="-405">
                <a:solidFill>
                  <a:srgbClr val="3ABEB1"/>
                </a:solidFill>
              </a:rPr>
              <a:t>Spanning</a:t>
            </a:r>
            <a:r>
              <a:rPr dirty="0" sz="6200" spc="-229">
                <a:solidFill>
                  <a:srgbClr val="3ABEB1"/>
                </a:solidFill>
              </a:rPr>
              <a:t> </a:t>
            </a:r>
            <a:r>
              <a:rPr dirty="0" sz="6200" spc="-315">
                <a:solidFill>
                  <a:srgbClr val="3ABEB1"/>
                </a:solidFill>
              </a:rPr>
              <a:t>Tree?</a:t>
            </a:r>
            <a:endParaRPr sz="62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28" y="2776724"/>
            <a:ext cx="1323974" cy="228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24352" y="3457742"/>
            <a:ext cx="5736590" cy="1132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000"/>
              </a:lnSpc>
              <a:spcBef>
                <a:spcPts val="100"/>
              </a:spcBef>
            </a:pPr>
            <a:r>
              <a:rPr dirty="0" sz="2750" spc="60">
                <a:solidFill>
                  <a:srgbClr val="F5F5F5"/>
                </a:solidFill>
                <a:latin typeface="Tahoma"/>
                <a:cs typeface="Tahoma"/>
              </a:rPr>
              <a:t>Connects</a:t>
            </a:r>
            <a:r>
              <a:rPr dirty="0" sz="2750" spc="-10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50" spc="-170" b="1">
                <a:solidFill>
                  <a:srgbClr val="3ABEB1"/>
                </a:solidFill>
                <a:latin typeface="Tahoma"/>
                <a:cs typeface="Tahoma"/>
              </a:rPr>
              <a:t>all</a:t>
            </a:r>
            <a:r>
              <a:rPr dirty="0" sz="2750" spc="-80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50" spc="-140" b="1">
                <a:solidFill>
                  <a:srgbClr val="3ABEB1"/>
                </a:solidFill>
                <a:latin typeface="Tahoma"/>
                <a:cs typeface="Tahoma"/>
              </a:rPr>
              <a:t>vertices</a:t>
            </a:r>
            <a:r>
              <a:rPr dirty="0" sz="2750" spc="-50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50" spc="90">
                <a:solidFill>
                  <a:srgbClr val="F5F5F5"/>
                </a:solidFill>
                <a:latin typeface="Tahoma"/>
                <a:cs typeface="Tahoma"/>
              </a:rPr>
              <a:t>of</a:t>
            </a:r>
            <a:r>
              <a:rPr dirty="0" sz="2750" spc="-10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750" spc="-10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50" spc="35">
                <a:solidFill>
                  <a:srgbClr val="F5F5F5"/>
                </a:solidFill>
                <a:latin typeface="Tahoma"/>
                <a:cs typeface="Tahoma"/>
              </a:rPr>
              <a:t>connected </a:t>
            </a:r>
            <a:r>
              <a:rPr dirty="0" sz="2750">
                <a:solidFill>
                  <a:srgbClr val="F5F5F5"/>
                </a:solidFill>
                <a:latin typeface="Tahoma"/>
                <a:cs typeface="Tahoma"/>
              </a:rPr>
              <a:t>undirected</a:t>
            </a:r>
            <a:r>
              <a:rPr dirty="0" sz="2750" spc="2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50" spc="-20">
                <a:solidFill>
                  <a:srgbClr val="F5F5F5"/>
                </a:solidFill>
                <a:latin typeface="Tahoma"/>
                <a:cs typeface="Tahoma"/>
              </a:rPr>
              <a:t>graph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364" y="5042716"/>
            <a:ext cx="454660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50">
                <a:solidFill>
                  <a:srgbClr val="F5F5F5"/>
                </a:solidFill>
                <a:latin typeface="Tahoma"/>
                <a:cs typeface="Tahoma"/>
              </a:rPr>
              <a:t>Contains</a:t>
            </a:r>
            <a:r>
              <a:rPr dirty="0" sz="270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exactly</a:t>
            </a:r>
            <a:r>
              <a:rPr dirty="0" sz="2700" spc="-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50" b="1">
                <a:solidFill>
                  <a:srgbClr val="3ABEB1"/>
                </a:solidFill>
                <a:latin typeface="Tahoma"/>
                <a:cs typeface="Tahoma"/>
              </a:rPr>
              <a:t>V</a:t>
            </a:r>
            <a:r>
              <a:rPr dirty="0" sz="2700" spc="-35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00" spc="-295" b="1">
                <a:solidFill>
                  <a:srgbClr val="3ABEB1"/>
                </a:solidFill>
                <a:latin typeface="Tahoma"/>
                <a:cs typeface="Tahoma"/>
              </a:rPr>
              <a:t>—</a:t>
            </a:r>
            <a:r>
              <a:rPr dirty="0" sz="2700" spc="-35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00" spc="-160" b="1">
                <a:solidFill>
                  <a:srgbClr val="3ABEB1"/>
                </a:solidFill>
                <a:latin typeface="Tahoma"/>
                <a:cs typeface="Tahoma"/>
              </a:rPr>
              <a:t>1</a:t>
            </a:r>
            <a:r>
              <a:rPr dirty="0" sz="2700" spc="10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edges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9536" y="5931306"/>
            <a:ext cx="628269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25" b="1">
                <a:solidFill>
                  <a:srgbClr val="3ABEB1"/>
                </a:solidFill>
                <a:latin typeface="Tahoma"/>
                <a:cs typeface="Tahoma"/>
              </a:rPr>
              <a:t>Minimizes</a:t>
            </a:r>
            <a:r>
              <a:rPr dirty="0" sz="2700" spc="10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700" spc="-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total</a:t>
            </a:r>
            <a:r>
              <a:rPr dirty="0" sz="2700" spc="-4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sum</a:t>
            </a:r>
            <a:r>
              <a:rPr dirty="0" sz="2700" spc="-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F5F5F5"/>
                </a:solidFill>
                <a:latin typeface="Tahoma"/>
                <a:cs typeface="Tahoma"/>
              </a:rPr>
              <a:t>of</a:t>
            </a:r>
            <a:r>
              <a:rPr dirty="0" sz="2700" spc="-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5F5F5"/>
                </a:solidFill>
                <a:latin typeface="Tahoma"/>
                <a:cs typeface="Tahoma"/>
              </a:rPr>
              <a:t>edge</a:t>
            </a:r>
            <a:r>
              <a:rPr dirty="0" sz="2700" spc="-4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5F5F5"/>
                </a:solidFill>
                <a:latin typeface="Tahoma"/>
                <a:cs typeface="Tahoma"/>
              </a:rPr>
              <a:t>weights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2030" y="6834957"/>
            <a:ext cx="214376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60">
                <a:solidFill>
                  <a:srgbClr val="F5F5F5"/>
                </a:solidFill>
                <a:latin typeface="Tahoma"/>
                <a:cs typeface="Tahoma"/>
              </a:rPr>
              <a:t>Has</a:t>
            </a:r>
            <a:r>
              <a:rPr dirty="0" sz="2700" spc="-9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700" spc="-155" b="1">
                <a:solidFill>
                  <a:srgbClr val="3ABEB1"/>
                </a:solidFill>
                <a:latin typeface="Tahoma"/>
                <a:cs typeface="Tahoma"/>
              </a:rPr>
              <a:t>no</a:t>
            </a:r>
            <a:r>
              <a:rPr dirty="0" sz="2700" spc="-80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700" spc="-105" b="1">
                <a:solidFill>
                  <a:srgbClr val="3ABEB1"/>
                </a:solidFill>
                <a:latin typeface="Tahoma"/>
                <a:cs typeface="Tahoma"/>
              </a:rPr>
              <a:t>cycles</a:t>
            </a:r>
            <a:endParaRPr sz="2700">
              <a:latin typeface="Tahoma"/>
              <a:cs typeface="Tahom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12715" y="2569015"/>
            <a:ext cx="10467959" cy="60102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9263300" y="3103365"/>
            <a:ext cx="2008505" cy="383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50" spc="-130" b="1">
                <a:solidFill>
                  <a:srgbClr val="F5F5F5"/>
                </a:solidFill>
                <a:latin typeface="Tahoma"/>
                <a:cs typeface="Tahoma"/>
              </a:rPr>
              <a:t>Original</a:t>
            </a:r>
            <a:r>
              <a:rPr dirty="0" sz="2350" spc="-5" b="1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 spc="-110" b="1">
                <a:solidFill>
                  <a:srgbClr val="F5F5F5"/>
                </a:solidFill>
                <a:latin typeface="Tahoma"/>
                <a:cs typeface="Tahoma"/>
              </a:rPr>
              <a:t>Graph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27602" y="3103365"/>
            <a:ext cx="3329940" cy="3835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350" spc="-145" b="1">
                <a:solidFill>
                  <a:srgbClr val="3ABEB1"/>
                </a:solidFill>
                <a:latin typeface="Tahoma"/>
                <a:cs typeface="Tahoma"/>
              </a:rPr>
              <a:t>Minimum</a:t>
            </a:r>
            <a:r>
              <a:rPr dirty="0" sz="2350" spc="-15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350" spc="-175" b="1">
                <a:solidFill>
                  <a:srgbClr val="3ABEB1"/>
                </a:solidFill>
                <a:latin typeface="Tahoma"/>
                <a:cs typeface="Tahoma"/>
              </a:rPr>
              <a:t>Spanning</a:t>
            </a:r>
            <a:r>
              <a:rPr dirty="0" sz="2350" spc="-20" b="1">
                <a:solidFill>
                  <a:srgbClr val="3ABEB1"/>
                </a:solidFill>
                <a:latin typeface="Tahoma"/>
                <a:cs typeface="Tahoma"/>
              </a:rPr>
              <a:t> </a:t>
            </a:r>
            <a:r>
              <a:rPr dirty="0" sz="2350" spc="-55" b="1">
                <a:solidFill>
                  <a:srgbClr val="3ABEB1"/>
                </a:solidFill>
                <a:latin typeface="Tahoma"/>
                <a:cs typeface="Tahoma"/>
              </a:rPr>
              <a:t>Tree</a:t>
            </a:r>
            <a:endParaRPr sz="23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50224" y="3848069"/>
            <a:ext cx="9371330" cy="4295775"/>
            <a:chOff x="8050224" y="3848069"/>
            <a:chExt cx="9371330" cy="429577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50224" y="3848069"/>
              <a:ext cx="4362449" cy="429575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22224" y="5564367"/>
              <a:ext cx="885824" cy="87629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97244" y="3848069"/>
              <a:ext cx="3924299" cy="429575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8655138" y="3999557"/>
            <a:ext cx="19621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35">
                <a:solidFill>
                  <a:srgbClr val="F5F5F5"/>
                </a:solidFill>
                <a:latin typeface="Tahoma"/>
                <a:cs typeface="Tahoma"/>
              </a:rPr>
              <a:t>1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243839" y="3838952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5065869" y="3838952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655138" y="4820651"/>
            <a:ext cx="196215" cy="3778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00" spc="35">
                <a:solidFill>
                  <a:srgbClr val="F5F5F5"/>
                </a:solidFill>
                <a:latin typeface="Tahoma"/>
                <a:cs typeface="Tahoma"/>
              </a:rPr>
              <a:t>3</a:t>
            </a:r>
            <a:endParaRPr sz="23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877971" y="4832968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646049" y="4878150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3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700002" y="4832968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609706" y="6640269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3646049" y="6640269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5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700002" y="6640269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43839" y="7709588"/>
            <a:ext cx="202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25">
                <a:solidFill>
                  <a:srgbClr val="F5F5F5"/>
                </a:solidFill>
                <a:latin typeface="Tahoma"/>
                <a:cs typeface="Tahoma"/>
              </a:rPr>
              <a:t>4</a:t>
            </a:r>
            <a:endParaRPr sz="24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079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85"/>
              </a:spcBef>
            </a:pPr>
            <a:r>
              <a:rPr dirty="0" sz="2300">
                <a:solidFill>
                  <a:srgbClr val="F5F5F5"/>
                </a:solidFill>
              </a:rPr>
              <a:t>Sanket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>
                <a:solidFill>
                  <a:srgbClr val="F5F5F5"/>
                </a:solidFill>
              </a:rPr>
              <a:t>Bhagat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 spc="-300">
                <a:solidFill>
                  <a:srgbClr val="F5F5F5"/>
                </a:solidFill>
              </a:rPr>
              <a:t>|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 spc="50">
                <a:solidFill>
                  <a:srgbClr val="F5F5F5"/>
                </a:solidFill>
              </a:rPr>
              <a:t>PRN: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 spc="105">
                <a:solidFill>
                  <a:srgbClr val="F5F5F5"/>
                </a:solidFill>
              </a:rPr>
              <a:t>26070521504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 spc="-300">
                <a:solidFill>
                  <a:srgbClr val="F5F5F5"/>
                </a:solidFill>
              </a:rPr>
              <a:t>|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 spc="60">
                <a:solidFill>
                  <a:srgbClr val="F5F5F5"/>
                </a:solidFill>
              </a:rPr>
              <a:t>Division</a:t>
            </a:r>
            <a:r>
              <a:rPr dirty="0" sz="2300" spc="-45">
                <a:solidFill>
                  <a:srgbClr val="F5F5F5"/>
                </a:solidFill>
              </a:rPr>
              <a:t> </a:t>
            </a:r>
            <a:r>
              <a:rPr dirty="0" sz="2300" spc="135">
                <a:solidFill>
                  <a:srgbClr val="F5F5F5"/>
                </a:solidFill>
              </a:rPr>
              <a:t>D</a:t>
            </a:r>
            <a:endParaRPr sz="2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695" rIns="0" bIns="0" rtlCol="0" vert="horz">
            <a:spAutoFit/>
          </a:bodyPr>
          <a:lstStyle/>
          <a:p>
            <a:pPr marL="12700" marR="5080">
              <a:lnSpc>
                <a:spcPts val="6320"/>
              </a:lnSpc>
              <a:spcBef>
                <a:spcPts val="785"/>
              </a:spcBef>
            </a:pPr>
            <a:r>
              <a:rPr dirty="0" sz="5750" spc="-225"/>
              <a:t>PRIM’S</a:t>
            </a:r>
            <a:r>
              <a:rPr dirty="0" sz="5750" spc="-195"/>
              <a:t> </a:t>
            </a:r>
            <a:r>
              <a:rPr dirty="0" sz="5750" spc="-10"/>
              <a:t>ALGORITHM </a:t>
            </a:r>
            <a:r>
              <a:rPr dirty="0" sz="5750" spc="-10">
                <a:solidFill>
                  <a:srgbClr val="45C2B8"/>
                </a:solidFill>
              </a:rPr>
              <a:t>OVERVIEW</a:t>
            </a:r>
            <a:endParaRPr sz="5750"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1812" y="852696"/>
            <a:ext cx="6981809" cy="15049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614830" y="1094584"/>
            <a:ext cx="733425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175" b="1">
                <a:solidFill>
                  <a:srgbClr val="F5F5F5"/>
                </a:solidFill>
                <a:latin typeface="Tahoma"/>
                <a:cs typeface="Tahoma"/>
              </a:rPr>
              <a:t>01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58863" y="1078817"/>
            <a:ext cx="3818254" cy="869315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marL="34925">
              <a:lnSpc>
                <a:spcPct val="100000"/>
              </a:lnSpc>
              <a:spcBef>
                <a:spcPts val="470"/>
              </a:spcBef>
            </a:pPr>
            <a:r>
              <a:rPr dirty="0" sz="2450" spc="-85" b="1">
                <a:solidFill>
                  <a:srgbClr val="45C2B8"/>
                </a:solidFill>
                <a:latin typeface="Tahoma"/>
                <a:cs typeface="Tahoma"/>
              </a:rPr>
              <a:t>INITIALIZE</a:t>
            </a: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2450" spc="50">
                <a:solidFill>
                  <a:srgbClr val="F5F5F5"/>
                </a:solidFill>
                <a:latin typeface="Tahoma"/>
                <a:cs typeface="Tahoma"/>
              </a:rPr>
              <a:t>Choose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any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starting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5F5F5"/>
                </a:solidFill>
                <a:latin typeface="Tahoma"/>
                <a:cs typeface="Tahoma"/>
              </a:rPr>
              <a:t>vertex.</a:t>
            </a:r>
            <a:endParaRPr sz="24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28" y="2776724"/>
            <a:ext cx="1323974" cy="228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0596" y="3433258"/>
            <a:ext cx="5789295" cy="229997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9050">
              <a:lnSpc>
                <a:spcPct val="100000"/>
              </a:lnSpc>
              <a:spcBef>
                <a:spcPts val="350"/>
              </a:spcBef>
            </a:pPr>
            <a:r>
              <a:rPr dirty="0" sz="2950" spc="229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950" spc="-14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greedy</a:t>
            </a:r>
            <a:r>
              <a:rPr dirty="0" sz="2950" spc="-14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approach</a:t>
            </a:r>
            <a:r>
              <a:rPr dirty="0" sz="2950" spc="-13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 spc="70">
                <a:solidFill>
                  <a:srgbClr val="F5F5F5"/>
                </a:solidFill>
                <a:latin typeface="Tahoma"/>
                <a:cs typeface="Tahoma"/>
              </a:rPr>
              <a:t>to</a:t>
            </a:r>
            <a:r>
              <a:rPr dirty="0" sz="2950" spc="-14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build</a:t>
            </a:r>
            <a:r>
              <a:rPr dirty="0" sz="2950" spc="-13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endParaRPr sz="2950">
              <a:latin typeface="Tahoma"/>
              <a:cs typeface="Tahoma"/>
            </a:endParaRPr>
          </a:p>
          <a:p>
            <a:pPr marL="19050">
              <a:lnSpc>
                <a:spcPct val="100000"/>
              </a:lnSpc>
              <a:spcBef>
                <a:spcPts val="254"/>
              </a:spcBef>
            </a:pPr>
            <a:r>
              <a:rPr dirty="0" sz="2950" spc="-254" b="1">
                <a:solidFill>
                  <a:srgbClr val="45C2B8"/>
                </a:solidFill>
                <a:latin typeface="Tahoma"/>
                <a:cs typeface="Tahoma"/>
              </a:rPr>
              <a:t>minimum</a:t>
            </a:r>
            <a:r>
              <a:rPr dirty="0" sz="2950" spc="-95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950" spc="-235" b="1">
                <a:solidFill>
                  <a:srgbClr val="45C2B8"/>
                </a:solidFill>
                <a:latin typeface="Tahoma"/>
                <a:cs typeface="Tahoma"/>
              </a:rPr>
              <a:t>spanning</a:t>
            </a:r>
            <a:r>
              <a:rPr dirty="0" sz="2950" spc="-100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950" spc="-20" b="1">
                <a:solidFill>
                  <a:srgbClr val="45C2B8"/>
                </a:solidFill>
                <a:latin typeface="Tahoma"/>
                <a:cs typeface="Tahoma"/>
              </a:rPr>
              <a:t>tree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80"/>
              </a:spcBef>
            </a:pP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Start</a:t>
            </a:r>
            <a:r>
              <a:rPr dirty="0" sz="2950" spc="-114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from</a:t>
            </a:r>
            <a:r>
              <a:rPr dirty="0" sz="2950" spc="-1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any</a:t>
            </a:r>
            <a:r>
              <a:rPr dirty="0" sz="2950" spc="-1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vertex</a:t>
            </a:r>
            <a:r>
              <a:rPr dirty="0" sz="2950" spc="-1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and</a:t>
            </a:r>
            <a:r>
              <a:rPr dirty="0" sz="2950" spc="-114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form</a:t>
            </a:r>
            <a:r>
              <a:rPr dirty="0" sz="2950" spc="-11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 spc="-25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endParaRPr sz="2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2950" spc="-180" b="1">
                <a:solidFill>
                  <a:srgbClr val="45C2B8"/>
                </a:solidFill>
                <a:latin typeface="Tahoma"/>
                <a:cs typeface="Tahoma"/>
              </a:rPr>
              <a:t>initial</a:t>
            </a:r>
            <a:r>
              <a:rPr dirty="0" sz="2950" spc="-80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950" spc="-20" b="1">
                <a:solidFill>
                  <a:srgbClr val="45C2B8"/>
                </a:solidFill>
                <a:latin typeface="Tahoma"/>
                <a:cs typeface="Tahoma"/>
              </a:rPr>
              <a:t>tree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44000" y="2142670"/>
            <a:ext cx="7181850" cy="2787015"/>
            <a:chOff x="9144000" y="2142670"/>
            <a:chExt cx="7181850" cy="2787015"/>
          </a:xfrm>
        </p:grpSpPr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059735" y="2142670"/>
              <a:ext cx="447674" cy="6476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4000" y="2776727"/>
              <a:ext cx="7181849" cy="215264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614830" y="3097675"/>
            <a:ext cx="733425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175" b="1">
                <a:solidFill>
                  <a:srgbClr val="F5F5F5"/>
                </a:solidFill>
                <a:latin typeface="Tahoma"/>
                <a:cs typeface="Tahoma"/>
              </a:rPr>
              <a:t>02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53172" y="2931301"/>
            <a:ext cx="4375785" cy="165481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just" marL="36195">
              <a:lnSpc>
                <a:spcPct val="100000"/>
              </a:lnSpc>
              <a:spcBef>
                <a:spcPts val="470"/>
              </a:spcBef>
            </a:pPr>
            <a:r>
              <a:rPr dirty="0" sz="2450" spc="-85" b="1">
                <a:solidFill>
                  <a:srgbClr val="45C2B8"/>
                </a:solidFill>
                <a:latin typeface="Tahoma"/>
                <a:cs typeface="Tahoma"/>
              </a:rPr>
              <a:t>SELECT</a:t>
            </a:r>
            <a:r>
              <a:rPr dirty="0" sz="2450" spc="-145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450" spc="-20" b="1">
                <a:solidFill>
                  <a:srgbClr val="45C2B8"/>
                </a:solidFill>
                <a:latin typeface="Tahoma"/>
                <a:cs typeface="Tahoma"/>
              </a:rPr>
              <a:t>EDGE</a:t>
            </a:r>
            <a:endParaRPr sz="2450">
              <a:latin typeface="Tahoma"/>
              <a:cs typeface="Tahoma"/>
            </a:endParaRPr>
          </a:p>
          <a:p>
            <a:pPr algn="just" marL="12700" marR="5080">
              <a:lnSpc>
                <a:spcPct val="105200"/>
              </a:lnSpc>
              <a:spcBef>
                <a:spcPts val="229"/>
              </a:spcBef>
            </a:pPr>
            <a:r>
              <a:rPr dirty="0" sz="2450" spc="60">
                <a:solidFill>
                  <a:srgbClr val="F5F5F5"/>
                </a:solidFill>
                <a:latin typeface="Tahoma"/>
                <a:cs typeface="Tahoma"/>
              </a:rPr>
              <a:t>Pick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25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minimum-</a:t>
            </a:r>
            <a:r>
              <a:rPr dirty="0" sz="2450" spc="25">
                <a:solidFill>
                  <a:srgbClr val="F5F5F5"/>
                </a:solidFill>
                <a:latin typeface="Tahoma"/>
                <a:cs typeface="Tahoma"/>
              </a:rPr>
              <a:t>weight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5">
                <a:solidFill>
                  <a:srgbClr val="F5F5F5"/>
                </a:solidFill>
                <a:latin typeface="Tahoma"/>
                <a:cs typeface="Tahoma"/>
              </a:rPr>
              <a:t>edge</a:t>
            </a:r>
            <a:r>
              <a:rPr dirty="0" sz="2450" spc="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15">
                <a:solidFill>
                  <a:srgbClr val="F5F5F5"/>
                </a:solidFill>
                <a:latin typeface="Tahoma"/>
                <a:cs typeface="Tahoma"/>
              </a:rPr>
              <a:t>that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30">
                <a:solidFill>
                  <a:srgbClr val="F5F5F5"/>
                </a:solidFill>
                <a:latin typeface="Tahoma"/>
                <a:cs typeface="Tahoma"/>
              </a:rPr>
              <a:t>connects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25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20">
                <a:solidFill>
                  <a:srgbClr val="F5F5F5"/>
                </a:solidFill>
                <a:latin typeface="Tahoma"/>
                <a:cs typeface="Tahoma"/>
              </a:rPr>
              <a:t>tree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70">
                <a:solidFill>
                  <a:srgbClr val="F5F5F5"/>
                </a:solidFill>
                <a:latin typeface="Tahoma"/>
                <a:cs typeface="Tahoma"/>
              </a:rPr>
              <a:t>to</a:t>
            </a:r>
            <a:r>
              <a:rPr dirty="0" sz="2450" spc="-13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45">
                <a:solidFill>
                  <a:srgbClr val="F5F5F5"/>
                </a:solidFill>
                <a:latin typeface="Tahoma"/>
                <a:cs typeface="Tahoma"/>
              </a:rPr>
              <a:t>new</a:t>
            </a:r>
            <a:r>
              <a:rPr dirty="0" sz="2450" spc="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20">
                <a:solidFill>
                  <a:srgbClr val="F5F5F5"/>
                </a:solidFill>
                <a:latin typeface="Tahoma"/>
                <a:cs typeface="Tahoma"/>
              </a:rPr>
              <a:t>vertex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25">
                <a:solidFill>
                  <a:srgbClr val="F5F5F5"/>
                </a:solidFill>
                <a:latin typeface="Tahoma"/>
                <a:cs typeface="Tahoma"/>
              </a:rPr>
              <a:t>outside</a:t>
            </a:r>
            <a:r>
              <a:rPr dirty="0" sz="24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25">
                <a:solidFill>
                  <a:srgbClr val="F5F5F5"/>
                </a:solidFill>
                <a:latin typeface="Tahoma"/>
                <a:cs typeface="Tahoma"/>
              </a:rPr>
              <a:t>it.</a:t>
            </a:r>
            <a:endParaRPr sz="245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44000" y="4711689"/>
            <a:ext cx="7181850" cy="2360295"/>
            <a:chOff x="9144000" y="4711689"/>
            <a:chExt cx="7181850" cy="236029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059735" y="4711689"/>
              <a:ext cx="447674" cy="65720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44000" y="5138043"/>
              <a:ext cx="7181849" cy="193355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9614830" y="5537532"/>
            <a:ext cx="733425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175" b="1">
                <a:solidFill>
                  <a:srgbClr val="F5F5F5"/>
                </a:solidFill>
                <a:latin typeface="Tahoma"/>
                <a:cs typeface="Tahoma"/>
              </a:rPr>
              <a:t>03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0953615" y="5461523"/>
            <a:ext cx="4332605" cy="123190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35560">
              <a:lnSpc>
                <a:spcPct val="100000"/>
              </a:lnSpc>
              <a:spcBef>
                <a:spcPts val="355"/>
              </a:spcBef>
            </a:pPr>
            <a:r>
              <a:rPr dirty="0" sz="2450" b="1">
                <a:solidFill>
                  <a:srgbClr val="45C2B8"/>
                </a:solidFill>
                <a:latin typeface="Tahoma"/>
                <a:cs typeface="Tahoma"/>
              </a:rPr>
              <a:t>ADD</a:t>
            </a:r>
            <a:r>
              <a:rPr dirty="0" sz="2450" spc="-70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450" spc="60" b="1">
                <a:solidFill>
                  <a:srgbClr val="45C2B8"/>
                </a:solidFill>
                <a:latin typeface="Tahoma"/>
                <a:cs typeface="Tahoma"/>
              </a:rPr>
              <a:t>TO</a:t>
            </a:r>
            <a:r>
              <a:rPr dirty="0" sz="2450" spc="-70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450" spc="-20" b="1">
                <a:solidFill>
                  <a:srgbClr val="45C2B8"/>
                </a:solidFill>
                <a:latin typeface="Tahoma"/>
                <a:cs typeface="Tahoma"/>
              </a:rPr>
              <a:t>TREE</a:t>
            </a:r>
            <a:endParaRPr sz="2450">
              <a:latin typeface="Tahoma"/>
              <a:cs typeface="Tahoma"/>
            </a:endParaRPr>
          </a:p>
          <a:p>
            <a:pPr marL="12700" marR="5080">
              <a:lnSpc>
                <a:spcPct val="105200"/>
              </a:lnSpc>
              <a:spcBef>
                <a:spcPts val="105"/>
              </a:spcBef>
            </a:pPr>
            <a:r>
              <a:rPr dirty="0" sz="2450" spc="-10">
                <a:solidFill>
                  <a:srgbClr val="F5F5F5"/>
                </a:solidFill>
                <a:latin typeface="Tahoma"/>
                <a:cs typeface="Tahoma"/>
              </a:rPr>
              <a:t>Include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new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vertex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and</a:t>
            </a:r>
            <a:r>
              <a:rPr dirty="0" sz="2450" spc="-7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25">
                <a:solidFill>
                  <a:srgbClr val="F5F5F5"/>
                </a:solidFill>
                <a:latin typeface="Tahoma"/>
                <a:cs typeface="Tahoma"/>
              </a:rPr>
              <a:t>the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selected</a:t>
            </a:r>
            <a:r>
              <a:rPr dirty="0" sz="2450" spc="-7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edge</a:t>
            </a:r>
            <a:r>
              <a:rPr dirty="0" sz="2450" spc="-6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in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450" spc="-6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5F5F5"/>
                </a:solidFill>
                <a:latin typeface="Tahoma"/>
                <a:cs typeface="Tahoma"/>
              </a:rPr>
              <a:t>tree.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8023" y="6071576"/>
            <a:ext cx="6036310" cy="2327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9050" marR="582295">
              <a:lnSpc>
                <a:spcPct val="105800"/>
              </a:lnSpc>
              <a:spcBef>
                <a:spcPts val="100"/>
              </a:spcBef>
            </a:pPr>
            <a:r>
              <a:rPr dirty="0" sz="3100" spc="80">
                <a:solidFill>
                  <a:srgbClr val="F5F5F5"/>
                </a:solidFill>
                <a:latin typeface="Tahoma"/>
                <a:cs typeface="Tahoma"/>
              </a:rPr>
              <a:t>Add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2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3100" spc="-17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-260" b="1">
                <a:solidFill>
                  <a:srgbClr val="45C2B8"/>
                </a:solidFill>
                <a:latin typeface="Tahoma"/>
                <a:cs typeface="Tahoma"/>
              </a:rPr>
              <a:t>minimum-</a:t>
            </a:r>
            <a:r>
              <a:rPr dirty="0" sz="3100" spc="-225" b="1">
                <a:solidFill>
                  <a:srgbClr val="45C2B8"/>
                </a:solidFill>
                <a:latin typeface="Tahoma"/>
                <a:cs typeface="Tahoma"/>
              </a:rPr>
              <a:t>weight</a:t>
            </a:r>
            <a:r>
              <a:rPr dirty="0" sz="3100" spc="-160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3100" spc="-229" b="1">
                <a:solidFill>
                  <a:srgbClr val="45C2B8"/>
                </a:solidFill>
                <a:latin typeface="Tahoma"/>
                <a:cs typeface="Tahoma"/>
              </a:rPr>
              <a:t>edge</a:t>
            </a:r>
            <a:r>
              <a:rPr dirty="0" sz="3100" spc="-95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3100" spc="5">
                <a:solidFill>
                  <a:srgbClr val="F5F5F5"/>
                </a:solidFill>
                <a:latin typeface="Tahoma"/>
                <a:cs typeface="Tahoma"/>
              </a:rPr>
              <a:t>that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15">
                <a:solidFill>
                  <a:srgbClr val="F5F5F5"/>
                </a:solidFill>
                <a:latin typeface="Tahoma"/>
                <a:cs typeface="Tahoma"/>
              </a:rPr>
              <a:t>connects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2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15">
                <a:solidFill>
                  <a:srgbClr val="F5F5F5"/>
                </a:solidFill>
                <a:latin typeface="Tahoma"/>
                <a:cs typeface="Tahoma"/>
              </a:rPr>
              <a:t>tree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65">
                <a:solidFill>
                  <a:srgbClr val="F5F5F5"/>
                </a:solidFill>
                <a:latin typeface="Tahoma"/>
                <a:cs typeface="Tahoma"/>
              </a:rPr>
              <a:t>to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-100">
                <a:solidFill>
                  <a:srgbClr val="F5F5F5"/>
                </a:solidFill>
                <a:latin typeface="Tahoma"/>
                <a:cs typeface="Tahoma"/>
              </a:rPr>
              <a:t>a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35">
                <a:solidFill>
                  <a:srgbClr val="F5F5F5"/>
                </a:solidFill>
                <a:latin typeface="Tahoma"/>
                <a:cs typeface="Tahoma"/>
              </a:rPr>
              <a:t>new</a:t>
            </a:r>
            <a:r>
              <a:rPr dirty="0" sz="3100" spc="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15">
                <a:solidFill>
                  <a:srgbClr val="F5F5F5"/>
                </a:solidFill>
                <a:latin typeface="Tahoma"/>
                <a:cs typeface="Tahoma"/>
              </a:rPr>
              <a:t>vertex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10">
                <a:solidFill>
                  <a:srgbClr val="F5F5F5"/>
                </a:solidFill>
                <a:latin typeface="Tahoma"/>
                <a:cs typeface="Tahoma"/>
              </a:rPr>
              <a:t>outside</a:t>
            </a:r>
            <a:r>
              <a:rPr dirty="0" sz="3100" spc="-1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3100" spc="45">
                <a:solidFill>
                  <a:srgbClr val="F5F5F5"/>
                </a:solidFill>
                <a:latin typeface="Tahoma"/>
                <a:cs typeface="Tahoma"/>
              </a:rPr>
              <a:t>it</a:t>
            </a:r>
            <a:endParaRPr sz="3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70"/>
              </a:spcBef>
            </a:pP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Repeat</a:t>
            </a:r>
            <a:r>
              <a:rPr dirty="0" sz="2950" spc="-14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until</a:t>
            </a:r>
            <a:r>
              <a:rPr dirty="0" sz="29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 spc="-200" b="1">
                <a:solidFill>
                  <a:srgbClr val="45C2B8"/>
                </a:solidFill>
                <a:latin typeface="Tahoma"/>
                <a:cs typeface="Tahoma"/>
              </a:rPr>
              <a:t>all</a:t>
            </a:r>
            <a:r>
              <a:rPr dirty="0" sz="2950" spc="-110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950" spc="-170" b="1">
                <a:solidFill>
                  <a:srgbClr val="45C2B8"/>
                </a:solidFill>
                <a:latin typeface="Tahoma"/>
                <a:cs typeface="Tahoma"/>
              </a:rPr>
              <a:t>vertices</a:t>
            </a:r>
            <a:r>
              <a:rPr dirty="0" sz="2950" spc="-75" b="1">
                <a:solidFill>
                  <a:srgbClr val="45C2B8"/>
                </a:solidFill>
                <a:latin typeface="Tahoma"/>
                <a:cs typeface="Tahoma"/>
              </a:rPr>
              <a:t> </a:t>
            </a:r>
            <a:r>
              <a:rPr dirty="0" sz="2950">
                <a:solidFill>
                  <a:srgbClr val="F5F5F5"/>
                </a:solidFill>
                <a:latin typeface="Tahoma"/>
                <a:cs typeface="Tahoma"/>
              </a:rPr>
              <a:t>are</a:t>
            </a:r>
            <a:r>
              <a:rPr dirty="0" sz="2950" spc="-1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950" spc="-10">
                <a:solidFill>
                  <a:srgbClr val="F5F5F5"/>
                </a:solidFill>
                <a:latin typeface="Tahoma"/>
                <a:cs typeface="Tahoma"/>
              </a:rPr>
              <a:t>included</a:t>
            </a:r>
            <a:endParaRPr sz="2950">
              <a:latin typeface="Tahoma"/>
              <a:cs typeface="Tahom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144000" y="6854357"/>
            <a:ext cx="7181850" cy="2150745"/>
            <a:chOff x="9144000" y="6854357"/>
            <a:chExt cx="7181850" cy="2150745"/>
          </a:xfrm>
        </p:grpSpPr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059735" y="6854357"/>
              <a:ext cx="447674" cy="65720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144000" y="7280711"/>
              <a:ext cx="7181849" cy="172400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9614830" y="7661110"/>
            <a:ext cx="733425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175" b="1">
                <a:solidFill>
                  <a:srgbClr val="F5F5F5"/>
                </a:solidFill>
                <a:latin typeface="Tahoma"/>
                <a:cs typeface="Tahoma"/>
              </a:rPr>
              <a:t>04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959405" y="7585102"/>
            <a:ext cx="3765550" cy="123190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38735">
              <a:lnSpc>
                <a:spcPct val="100000"/>
              </a:lnSpc>
              <a:spcBef>
                <a:spcPts val="355"/>
              </a:spcBef>
            </a:pPr>
            <a:r>
              <a:rPr dirty="0" sz="2450" spc="-10" b="1">
                <a:solidFill>
                  <a:srgbClr val="45C2B8"/>
                </a:solidFill>
                <a:latin typeface="Tahoma"/>
                <a:cs typeface="Tahoma"/>
              </a:rPr>
              <a:t>REPEAT</a:t>
            </a:r>
            <a:endParaRPr sz="2450">
              <a:latin typeface="Tahoma"/>
              <a:cs typeface="Tahoma"/>
            </a:endParaRPr>
          </a:p>
          <a:p>
            <a:pPr marL="12700" marR="5080">
              <a:lnSpc>
                <a:spcPct val="105200"/>
              </a:lnSpc>
              <a:spcBef>
                <a:spcPts val="105"/>
              </a:spcBef>
            </a:pP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Repeat</a:t>
            </a:r>
            <a:r>
              <a:rPr dirty="0" sz="2450" spc="-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450" spc="-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process</a:t>
            </a:r>
            <a:r>
              <a:rPr dirty="0" sz="2450" spc="-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until</a:t>
            </a:r>
            <a:r>
              <a:rPr dirty="0" sz="2450" spc="-3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25">
                <a:solidFill>
                  <a:srgbClr val="F5F5F5"/>
                </a:solidFill>
                <a:latin typeface="Tahoma"/>
                <a:cs typeface="Tahoma"/>
              </a:rPr>
              <a:t>all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vertices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5F5F5"/>
                </a:solidFill>
                <a:latin typeface="Tahoma"/>
                <a:cs typeface="Tahoma"/>
              </a:rPr>
              <a:t>are</a:t>
            </a:r>
            <a:r>
              <a:rPr dirty="0" sz="24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5F5F5"/>
                </a:solidFill>
                <a:latin typeface="Tahoma"/>
                <a:cs typeface="Tahoma"/>
              </a:rPr>
              <a:t>included.</a:t>
            </a:r>
            <a:endParaRPr sz="24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F5F5F5"/>
                </a:solidFill>
              </a:rPr>
              <a:t>Sanket</a:t>
            </a:r>
            <a:r>
              <a:rPr dirty="0" spc="-55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Bhagat</a:t>
            </a:r>
            <a:r>
              <a:rPr dirty="0" spc="-5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PRN:</a:t>
            </a:r>
            <a:r>
              <a:rPr dirty="0" spc="-55">
                <a:solidFill>
                  <a:srgbClr val="F5F5F5"/>
                </a:solidFill>
              </a:rPr>
              <a:t> </a:t>
            </a:r>
            <a:r>
              <a:rPr dirty="0" spc="80">
                <a:solidFill>
                  <a:srgbClr val="F5F5F5"/>
                </a:solidFill>
              </a:rPr>
              <a:t>26070521504</a:t>
            </a:r>
            <a:r>
              <a:rPr dirty="0" spc="-55">
                <a:solidFill>
                  <a:srgbClr val="F5F5F5"/>
                </a:solidFill>
              </a:rPr>
              <a:t> </a:t>
            </a:r>
            <a:r>
              <a:rPr dirty="0" spc="-305">
                <a:solidFill>
                  <a:srgbClr val="F5F5F5"/>
                </a:solidFill>
              </a:rPr>
              <a:t>|</a:t>
            </a:r>
            <a:r>
              <a:rPr dirty="0" spc="-50">
                <a:solidFill>
                  <a:srgbClr val="F5F5F5"/>
                </a:solidFill>
              </a:rPr>
              <a:t> </a:t>
            </a:r>
            <a:r>
              <a:rPr dirty="0">
                <a:solidFill>
                  <a:srgbClr val="F5F5F5"/>
                </a:solidFill>
              </a:rPr>
              <a:t>Division</a:t>
            </a:r>
            <a:r>
              <a:rPr dirty="0" spc="-55">
                <a:solidFill>
                  <a:srgbClr val="F5F5F5"/>
                </a:solidFill>
              </a:rPr>
              <a:t> </a:t>
            </a:r>
            <a:r>
              <a:rPr dirty="0" spc="145">
                <a:solidFill>
                  <a:srgbClr val="F5F5F5"/>
                </a:solidFill>
              </a:rPr>
              <a:t>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5565" rIns="0" bIns="0" rtlCol="0" vert="horz">
            <a:spAutoFit/>
          </a:bodyPr>
          <a:lstStyle/>
          <a:p>
            <a:pPr marL="13970" marR="5080">
              <a:lnSpc>
                <a:spcPts val="6470"/>
              </a:lnSpc>
              <a:spcBef>
                <a:spcPts val="595"/>
              </a:spcBef>
            </a:pPr>
            <a:r>
              <a:rPr dirty="0" spc="-260"/>
              <a:t>PRIM’S</a:t>
            </a:r>
            <a:r>
              <a:rPr dirty="0" spc="-229"/>
              <a:t> </a:t>
            </a:r>
            <a:r>
              <a:rPr dirty="0" spc="-35"/>
              <a:t>ALGORITHM </a:t>
            </a:r>
            <a:r>
              <a:rPr dirty="0" spc="-10">
                <a:solidFill>
                  <a:srgbClr val="3DC2B5"/>
                </a:solidFill>
              </a:rPr>
              <a:t>PSEUDOCODE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28" y="2776724"/>
            <a:ext cx="1323974" cy="228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04434" y="3447711"/>
            <a:ext cx="5079365" cy="953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dirty="0" sz="2750" spc="-185" b="1">
                <a:solidFill>
                  <a:srgbClr val="3DC2B5"/>
                </a:solidFill>
                <a:latin typeface="Tahoma"/>
                <a:cs typeface="Tahoma"/>
              </a:rPr>
              <a:t>Initialize</a:t>
            </a:r>
            <a:r>
              <a:rPr dirty="0" sz="2750" spc="-60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Start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125">
                <a:solidFill>
                  <a:srgbClr val="FFFFFF"/>
                </a:solidFill>
                <a:latin typeface="Tahoma"/>
                <a:cs typeface="Tahoma"/>
              </a:rPr>
              <a:t>MST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Tahoma"/>
                <a:cs typeface="Tahoma"/>
              </a:rPr>
              <a:t>any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chosen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Tahoma"/>
                <a:cs typeface="Tahoma"/>
              </a:rPr>
              <a:t>vertex.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290" y="4682700"/>
            <a:ext cx="5765800" cy="2610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dirty="0" sz="2750" spc="-155" b="1">
                <a:solidFill>
                  <a:srgbClr val="3DC2B5"/>
                </a:solidFill>
                <a:latin typeface="Tahoma"/>
                <a:cs typeface="Tahoma"/>
              </a:rPr>
              <a:t>Select</a:t>
            </a:r>
            <a:r>
              <a:rPr dirty="0" sz="2750" spc="-55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Repeatedly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pick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Tahoma"/>
                <a:cs typeface="Tahoma"/>
              </a:rPr>
              <a:t>minimum-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weight</a:t>
            </a:r>
            <a:r>
              <a:rPr dirty="0" sz="27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connects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8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Tahoma"/>
                <a:cs typeface="Tahoma"/>
              </a:rPr>
              <a:t>vertex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inside</a:t>
            </a:r>
            <a:r>
              <a:rPr dirty="0" sz="27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7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125">
                <a:solidFill>
                  <a:srgbClr val="FFFFFF"/>
                </a:solidFill>
                <a:latin typeface="Tahoma"/>
                <a:cs typeface="Tahoma"/>
              </a:rPr>
              <a:t>MST</a:t>
            </a:r>
            <a:r>
              <a:rPr dirty="0" sz="27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6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dirty="0" sz="27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8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7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vertex</a:t>
            </a:r>
            <a:r>
              <a:rPr dirty="0" sz="27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outside</a:t>
            </a:r>
            <a:r>
              <a:rPr dirty="0" sz="27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Tahoma"/>
                <a:cs typeface="Tahoma"/>
              </a:rPr>
              <a:t>it.</a:t>
            </a:r>
            <a:endParaRPr sz="2750">
              <a:latin typeface="Tahoma"/>
              <a:cs typeface="Tahoma"/>
            </a:endParaRPr>
          </a:p>
          <a:p>
            <a:pPr marL="15875" marR="350520">
              <a:lnSpc>
                <a:spcPct val="110700"/>
              </a:lnSpc>
              <a:spcBef>
                <a:spcPts val="2080"/>
              </a:spcBef>
            </a:pPr>
            <a:r>
              <a:rPr dirty="0" sz="2750" spc="-90" b="1">
                <a:solidFill>
                  <a:srgbClr val="3DC2B5"/>
                </a:solidFill>
                <a:latin typeface="Tahoma"/>
                <a:cs typeface="Tahoma"/>
              </a:rPr>
              <a:t>Add</a:t>
            </a:r>
            <a:r>
              <a:rPr dirty="0" sz="2750" spc="-85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include</a:t>
            </a:r>
            <a:r>
              <a:rPr dirty="0" sz="27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dirty="0" sz="27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27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1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7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7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Tahoma"/>
                <a:cs typeface="Tahoma"/>
              </a:rPr>
              <a:t>new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vertex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Tahoma"/>
                <a:cs typeface="Tahoma"/>
              </a:rPr>
              <a:t>MST.</a:t>
            </a:r>
            <a:endParaRPr sz="27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7984" y="7604503"/>
            <a:ext cx="5699125" cy="9537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0700"/>
              </a:lnSpc>
              <a:spcBef>
                <a:spcPts val="100"/>
              </a:spcBef>
            </a:pPr>
            <a:r>
              <a:rPr dirty="0" sz="2750" spc="-165" b="1">
                <a:solidFill>
                  <a:srgbClr val="3DC2B5"/>
                </a:solidFill>
                <a:latin typeface="Tahoma"/>
                <a:cs typeface="Tahoma"/>
              </a:rPr>
              <a:t>Terminate</a:t>
            </a:r>
            <a:r>
              <a:rPr dirty="0" sz="2750" spc="-40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Stop</a:t>
            </a:r>
            <a:r>
              <a:rPr dirty="0" sz="275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when</a:t>
            </a:r>
            <a:r>
              <a:rPr dirty="0" sz="27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dirty="0" sz="275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vertices</a:t>
            </a:r>
            <a:r>
              <a:rPr dirty="0" sz="275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5">
                <a:solidFill>
                  <a:srgbClr val="FFFFFF"/>
                </a:solidFill>
                <a:latin typeface="Tahoma"/>
                <a:cs typeface="Tahoma"/>
              </a:rPr>
              <a:t>are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included</a:t>
            </a:r>
            <a:r>
              <a:rPr dirty="0" sz="275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dirty="0" sz="27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75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50" spc="-20">
                <a:solidFill>
                  <a:srgbClr val="FFFFFF"/>
                </a:solidFill>
                <a:latin typeface="Tahoma"/>
                <a:cs typeface="Tahoma"/>
              </a:rPr>
              <a:t>MST.</a:t>
            </a:r>
            <a:endParaRPr sz="27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87735" y="634075"/>
            <a:ext cx="9153509" cy="858198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902732" y="1173644"/>
            <a:ext cx="546735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-155" b="1">
                <a:solidFill>
                  <a:srgbClr val="3DC2B5"/>
                </a:solidFill>
                <a:latin typeface="Tahoma"/>
                <a:cs typeface="Tahoma"/>
              </a:rPr>
              <a:t>01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74930" y="1166195"/>
            <a:ext cx="3738245" cy="16319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5100"/>
              </a:lnSpc>
              <a:spcBef>
                <a:spcPts val="95"/>
              </a:spcBef>
            </a:pP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Choose</a:t>
            </a:r>
            <a:r>
              <a:rPr dirty="0" sz="26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any</a:t>
            </a:r>
            <a:r>
              <a:rPr dirty="0" sz="26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start</a:t>
            </a:r>
            <a:r>
              <a:rPr dirty="0" sz="2600" spc="-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vertex</a:t>
            </a:r>
            <a:r>
              <a:rPr dirty="0" sz="2600" spc="-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Tahoma"/>
                <a:cs typeface="Tahoma"/>
              </a:rPr>
              <a:t>s </a:t>
            </a: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MST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←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204">
                <a:solidFill>
                  <a:srgbClr val="3DC2B5"/>
                </a:solidFill>
                <a:latin typeface="Tahoma"/>
                <a:cs typeface="Tahoma"/>
              </a:rPr>
              <a:t>Ø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Visited</a:t>
            </a:r>
            <a:r>
              <a:rPr dirty="0" sz="2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←</a:t>
            </a:r>
            <a:r>
              <a:rPr dirty="0" sz="2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50">
                <a:solidFill>
                  <a:srgbClr val="FFFFFF"/>
                </a:solidFill>
                <a:latin typeface="Tahoma"/>
                <a:cs typeface="Tahoma"/>
              </a:rPr>
              <a:t>{s}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706490" y="2776724"/>
            <a:ext cx="8496300" cy="3444875"/>
            <a:chOff x="8706490" y="2776724"/>
            <a:chExt cx="8496300" cy="3444875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06490" y="2995363"/>
              <a:ext cx="8496299" cy="22859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840980" y="2776724"/>
              <a:ext cx="666749" cy="6572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06490" y="4066702"/>
              <a:ext cx="8496299" cy="4381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840980" y="4066702"/>
              <a:ext cx="666749" cy="6572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706490" y="5783031"/>
              <a:ext cx="8496299" cy="2190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840980" y="5564382"/>
              <a:ext cx="666749" cy="65720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8902732" y="3402649"/>
            <a:ext cx="546735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-155" b="1">
                <a:solidFill>
                  <a:srgbClr val="3DC2B5"/>
                </a:solidFill>
                <a:latin typeface="Tahoma"/>
                <a:cs typeface="Tahoma"/>
              </a:rPr>
              <a:t>02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049827" y="3529272"/>
            <a:ext cx="627253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55" b="1">
                <a:solidFill>
                  <a:srgbClr val="3DC2B5"/>
                </a:solidFill>
                <a:latin typeface="Tahoma"/>
                <a:cs typeface="Tahoma"/>
              </a:rPr>
              <a:t>while</a:t>
            </a:r>
            <a:r>
              <a:rPr dirty="0" sz="2700" spc="-55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FFFFFF"/>
                </a:solidFill>
                <a:latin typeface="Tahoma"/>
                <a:cs typeface="Tahoma"/>
              </a:rPr>
              <a:t>Visited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does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not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include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all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Tahoma"/>
                <a:cs typeface="Tahoma"/>
              </a:rPr>
              <a:t>vertices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02732" y="4547273"/>
            <a:ext cx="546735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-155" b="1">
                <a:solidFill>
                  <a:srgbClr val="3DC2B5"/>
                </a:solidFill>
                <a:latin typeface="Tahoma"/>
                <a:cs typeface="Tahoma"/>
              </a:rPr>
              <a:t>03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902732" y="6083479"/>
            <a:ext cx="546735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-155" b="1">
                <a:solidFill>
                  <a:srgbClr val="3DC2B5"/>
                </a:solidFill>
                <a:latin typeface="Tahoma"/>
                <a:cs typeface="Tahoma"/>
              </a:rPr>
              <a:t>04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219745" y="4490301"/>
            <a:ext cx="5367020" cy="2540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5"/>
              </a:spcBef>
            </a:pP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Find</a:t>
            </a:r>
            <a:r>
              <a:rPr dirty="0" sz="26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dirty="0" sz="26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ahoma"/>
                <a:cs typeface="Tahoma"/>
              </a:rPr>
              <a:t>minimum-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weight</a:t>
            </a:r>
            <a:r>
              <a:rPr dirty="0" sz="26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r>
              <a:rPr dirty="0" sz="26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175">
                <a:solidFill>
                  <a:srgbClr val="FFFFFF"/>
                </a:solidFill>
                <a:latin typeface="Tahoma"/>
                <a:cs typeface="Tahoma"/>
              </a:rPr>
              <a:t>(</a:t>
            </a:r>
            <a:r>
              <a:rPr dirty="0" sz="2600" spc="-175">
                <a:solidFill>
                  <a:srgbClr val="3DC2B5"/>
                </a:solidFill>
                <a:latin typeface="Tahoma"/>
                <a:cs typeface="Tahoma"/>
              </a:rPr>
              <a:t>u</a:t>
            </a:r>
            <a:r>
              <a:rPr dirty="0" sz="2600" spc="-175">
                <a:solidFill>
                  <a:srgbClr val="FFFFFF"/>
                </a:solidFill>
                <a:latin typeface="Tahoma"/>
                <a:cs typeface="Tahoma"/>
              </a:rPr>
              <a:t>,</a:t>
            </a:r>
            <a:r>
              <a:rPr dirty="0" sz="26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ahoma"/>
                <a:cs typeface="Tahoma"/>
              </a:rPr>
              <a:t>v)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where</a:t>
            </a:r>
            <a:r>
              <a:rPr dirty="0" sz="26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3DC2B5"/>
                </a:solidFill>
                <a:latin typeface="Tahoma"/>
                <a:cs typeface="Tahoma"/>
              </a:rPr>
              <a:t>u</a:t>
            </a:r>
            <a:r>
              <a:rPr dirty="0" sz="2600" spc="-90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450" spc="525">
                <a:solidFill>
                  <a:srgbClr val="3DC2B5"/>
                </a:solidFill>
                <a:latin typeface="Lucida Sans Unicode"/>
                <a:cs typeface="Lucida Sans Unicode"/>
              </a:rPr>
              <a:t>∈</a:t>
            </a:r>
            <a:r>
              <a:rPr dirty="0" sz="2450" spc="90">
                <a:solidFill>
                  <a:srgbClr val="3DC2B5"/>
                </a:solidFill>
                <a:latin typeface="Lucida Sans Unicode"/>
                <a:cs typeface="Lucida Sans Unicode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Visited</a:t>
            </a:r>
            <a:r>
              <a:rPr dirty="0" sz="2600" spc="-9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dirty="0" sz="2600" spc="-10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50">
                <a:solidFill>
                  <a:srgbClr val="3DC2B5"/>
                </a:solidFill>
                <a:latin typeface="Tahoma"/>
                <a:cs typeface="Tahoma"/>
              </a:rPr>
              <a:t>v</a:t>
            </a:r>
            <a:r>
              <a:rPr dirty="0" sz="2600" spc="625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450" spc="525">
                <a:solidFill>
                  <a:srgbClr val="3DC2B5"/>
                </a:solidFill>
                <a:latin typeface="Lucida Sans Unicode"/>
                <a:cs typeface="Lucida Sans Unicode"/>
              </a:rPr>
              <a:t>∈</a:t>
            </a:r>
            <a:r>
              <a:rPr dirty="0" sz="2450" spc="90">
                <a:solidFill>
                  <a:srgbClr val="3DC2B5"/>
                </a:solidFill>
                <a:latin typeface="Lucida Sans Unicode"/>
                <a:cs typeface="Lucida Sans Unicode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ahoma"/>
                <a:cs typeface="Tahoma"/>
              </a:rPr>
              <a:t>Visited</a:t>
            </a:r>
            <a:endParaRPr sz="26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z="26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</a:pP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MST</a:t>
            </a:r>
            <a:r>
              <a:rPr dirty="0" sz="26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←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135">
                <a:solidFill>
                  <a:srgbClr val="FFFFFF"/>
                </a:solidFill>
                <a:latin typeface="Tahoma"/>
                <a:cs typeface="Tahoma"/>
              </a:rPr>
              <a:t>MST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220">
                <a:solidFill>
                  <a:srgbClr val="3DC2B5"/>
                </a:solidFill>
                <a:latin typeface="Tahoma"/>
                <a:cs typeface="Tahoma"/>
              </a:rPr>
              <a:t>U</a:t>
            </a:r>
            <a:r>
              <a:rPr dirty="0" sz="2600" spc="-145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600" spc="-285">
                <a:solidFill>
                  <a:srgbClr val="FFFFFF"/>
                </a:solidFill>
                <a:latin typeface="Tahoma"/>
                <a:cs typeface="Tahoma"/>
              </a:rPr>
              <a:t>{{u,</a:t>
            </a:r>
            <a:r>
              <a:rPr dirty="0" sz="260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-320">
                <a:solidFill>
                  <a:srgbClr val="FFFFFF"/>
                </a:solidFill>
                <a:latin typeface="Tahoma"/>
                <a:cs typeface="Tahoma"/>
              </a:rPr>
              <a:t>v}}</a:t>
            </a:r>
            <a:endParaRPr sz="2600">
              <a:latin typeface="Tahoma"/>
              <a:cs typeface="Tahoma"/>
            </a:endParaRPr>
          </a:p>
          <a:p>
            <a:pPr marL="33020">
              <a:lnSpc>
                <a:spcPct val="100000"/>
              </a:lnSpc>
              <a:spcBef>
                <a:spcPts val="675"/>
              </a:spcBef>
            </a:pP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Visited</a:t>
            </a:r>
            <a:r>
              <a:rPr dirty="0" sz="2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←</a:t>
            </a:r>
            <a:r>
              <a:rPr dirty="0" sz="2600" spc="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>
                <a:solidFill>
                  <a:srgbClr val="FFFFFF"/>
                </a:solidFill>
                <a:latin typeface="Tahoma"/>
                <a:cs typeface="Tahoma"/>
              </a:rPr>
              <a:t>Visited</a:t>
            </a:r>
            <a:r>
              <a:rPr dirty="0" sz="2600" spc="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600" spc="220">
                <a:solidFill>
                  <a:srgbClr val="3DC2B5"/>
                </a:solidFill>
                <a:latin typeface="Tahoma"/>
                <a:cs typeface="Tahoma"/>
              </a:rPr>
              <a:t>U</a:t>
            </a:r>
            <a:r>
              <a:rPr dirty="0" sz="2600" spc="5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600" spc="-320">
                <a:solidFill>
                  <a:srgbClr val="FFFFFF"/>
                </a:solidFill>
                <a:latin typeface="Tahoma"/>
                <a:cs typeface="Tahoma"/>
              </a:rPr>
              <a:t>{v}</a:t>
            </a:r>
            <a:endParaRPr sz="26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06490" y="7062078"/>
            <a:ext cx="8496300" cy="657225"/>
            <a:chOff x="8706490" y="7062078"/>
            <a:chExt cx="8496300" cy="657225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06490" y="7280696"/>
              <a:ext cx="8496299" cy="2285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840980" y="7062078"/>
              <a:ext cx="666749" cy="65720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8902732" y="7634744"/>
            <a:ext cx="546735" cy="564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500" spc="-155" b="1">
                <a:solidFill>
                  <a:srgbClr val="3DC2B5"/>
                </a:solidFill>
                <a:latin typeface="Tahoma"/>
                <a:cs typeface="Tahoma"/>
              </a:rPr>
              <a:t>05</a:t>
            </a:r>
            <a:endParaRPr sz="35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96159" y="7577774"/>
            <a:ext cx="1729739" cy="9893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600"/>
              </a:lnSpc>
              <a:spcBef>
                <a:spcPts val="95"/>
              </a:spcBef>
            </a:pPr>
            <a:r>
              <a:rPr dirty="0" sz="2600" spc="-160" b="1">
                <a:solidFill>
                  <a:srgbClr val="3DC2B5"/>
                </a:solidFill>
                <a:latin typeface="Tahoma"/>
                <a:cs typeface="Tahoma"/>
              </a:rPr>
              <a:t>end</a:t>
            </a:r>
            <a:r>
              <a:rPr dirty="0" sz="2600" spc="-145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3DC2B5"/>
                </a:solidFill>
                <a:latin typeface="Tahoma"/>
                <a:cs typeface="Tahoma"/>
              </a:rPr>
              <a:t>while </a:t>
            </a:r>
            <a:r>
              <a:rPr dirty="0" sz="2600" spc="-150" b="1">
                <a:solidFill>
                  <a:srgbClr val="3DC2B5"/>
                </a:solidFill>
                <a:latin typeface="Tahoma"/>
                <a:cs typeface="Tahoma"/>
              </a:rPr>
              <a:t>return</a:t>
            </a:r>
            <a:r>
              <a:rPr dirty="0" sz="2600" spc="-140" b="1">
                <a:solidFill>
                  <a:srgbClr val="3DC2B5"/>
                </a:solidFill>
                <a:latin typeface="Tahoma"/>
                <a:cs typeface="Tahoma"/>
              </a:rPr>
              <a:t> </a:t>
            </a:r>
            <a:r>
              <a:rPr dirty="0" sz="2600" spc="110">
                <a:solidFill>
                  <a:srgbClr val="FFFFFF"/>
                </a:solidFill>
                <a:latin typeface="Tahoma"/>
                <a:cs typeface="Tahoma"/>
              </a:rPr>
              <a:t>MST</a:t>
            </a:r>
            <a:endParaRPr sz="26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29" name="object 2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150"/>
              <a:t>Sanket</a:t>
            </a:r>
            <a:r>
              <a:rPr dirty="0" sz="2150" spc="-75"/>
              <a:t> </a:t>
            </a:r>
            <a:r>
              <a:rPr dirty="0" sz="2150"/>
              <a:t>Bhagat</a:t>
            </a:r>
            <a:r>
              <a:rPr dirty="0" sz="2150" spc="-70"/>
              <a:t> </a:t>
            </a:r>
            <a:r>
              <a:rPr dirty="0" sz="2150" spc="-285"/>
              <a:t>|</a:t>
            </a:r>
            <a:r>
              <a:rPr dirty="0" sz="2150" spc="-75"/>
              <a:t> </a:t>
            </a:r>
            <a:r>
              <a:rPr dirty="0" sz="2150"/>
              <a:t>PRN:</a:t>
            </a:r>
            <a:r>
              <a:rPr dirty="0" sz="2150" spc="-70"/>
              <a:t> </a:t>
            </a:r>
            <a:r>
              <a:rPr dirty="0" sz="2150" spc="80"/>
              <a:t>26070521504</a:t>
            </a:r>
            <a:r>
              <a:rPr dirty="0" sz="2150" spc="-70"/>
              <a:t> </a:t>
            </a:r>
            <a:r>
              <a:rPr dirty="0" sz="2150" spc="-285"/>
              <a:t>|</a:t>
            </a:r>
            <a:r>
              <a:rPr dirty="0" sz="2150" spc="-75"/>
              <a:t> </a:t>
            </a:r>
            <a:r>
              <a:rPr dirty="0" sz="2150" spc="45"/>
              <a:t>Division</a:t>
            </a:r>
            <a:r>
              <a:rPr dirty="0" sz="2150" spc="-70"/>
              <a:t> </a:t>
            </a:r>
            <a:r>
              <a:rPr dirty="0" sz="2150" spc="140"/>
              <a:t>D</a:t>
            </a:r>
            <a:endParaRPr sz="2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60315" y="658861"/>
            <a:ext cx="6832600" cy="1751330"/>
          </a:xfrm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12700" marR="5080" indent="33655">
              <a:lnSpc>
                <a:spcPts val="6640"/>
              </a:lnSpc>
              <a:spcBef>
                <a:spcPts val="509"/>
              </a:spcBef>
            </a:pPr>
            <a:r>
              <a:rPr dirty="0" sz="5800" spc="-10">
                <a:solidFill>
                  <a:srgbClr val="FEFEFE"/>
                </a:solidFill>
              </a:rPr>
              <a:t>EXAMPLE </a:t>
            </a:r>
            <a:r>
              <a:rPr dirty="0" sz="5800" spc="-140">
                <a:solidFill>
                  <a:srgbClr val="3BC4B5"/>
                </a:solidFill>
              </a:rPr>
              <a:t>WEIGHTED</a:t>
            </a:r>
            <a:r>
              <a:rPr dirty="0" sz="5800" spc="-245">
                <a:solidFill>
                  <a:srgbClr val="3BC4B5"/>
                </a:solidFill>
              </a:rPr>
              <a:t> </a:t>
            </a:r>
            <a:r>
              <a:rPr dirty="0" sz="5800" spc="-35">
                <a:solidFill>
                  <a:srgbClr val="3BC4B5"/>
                </a:solidFill>
              </a:rPr>
              <a:t>GRAPH</a:t>
            </a:r>
            <a:endParaRPr sz="5800"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5328" y="2569015"/>
            <a:ext cx="1323974" cy="2190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30675" y="3152256"/>
            <a:ext cx="5181600" cy="88265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dirty="0" sz="2450" spc="204">
                <a:solidFill>
                  <a:srgbClr val="FEFEFE"/>
                </a:solidFill>
                <a:latin typeface="Tahoma"/>
                <a:cs typeface="Tahoma"/>
              </a:rPr>
              <a:t>A</a:t>
            </a: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connected, undirected</a:t>
            </a: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 graph</a:t>
            </a: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2450" spc="55">
                <a:solidFill>
                  <a:srgbClr val="FEFEFE"/>
                </a:solidFill>
                <a:latin typeface="Tahoma"/>
                <a:cs typeface="Tahoma"/>
              </a:rPr>
              <a:t>with</a:t>
            </a:r>
            <a:r>
              <a:rPr dirty="0" sz="2450" spc="-6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six</a:t>
            </a:r>
            <a:r>
              <a:rPr dirty="0" sz="2450" spc="-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vertices</a:t>
            </a:r>
            <a:r>
              <a:rPr dirty="0" sz="2450" spc="-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and</a:t>
            </a:r>
            <a:r>
              <a:rPr dirty="0" sz="2450" spc="-5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weighted</a:t>
            </a:r>
            <a:r>
              <a:rPr dirty="0" sz="2450" spc="-5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edges.</a:t>
            </a:r>
            <a:endParaRPr sz="245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45328" y="4285335"/>
            <a:ext cx="6324599" cy="43814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26788" y="4661528"/>
            <a:ext cx="3348354" cy="4035425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685"/>
              </a:spcBef>
            </a:pPr>
            <a:r>
              <a:rPr dirty="0" sz="4800" spc="-360" b="1">
                <a:solidFill>
                  <a:srgbClr val="3BC4B5"/>
                </a:solidFill>
                <a:latin typeface="Tahoma"/>
                <a:cs typeface="Tahoma"/>
              </a:rPr>
              <a:t>6</a:t>
            </a:r>
            <a:endParaRPr sz="4800">
              <a:latin typeface="Tahoma"/>
              <a:cs typeface="Tahoma"/>
            </a:endParaRPr>
          </a:p>
          <a:p>
            <a:pPr marL="58419">
              <a:lnSpc>
                <a:spcPct val="100000"/>
              </a:lnSpc>
              <a:spcBef>
                <a:spcPts val="340"/>
              </a:spcBef>
            </a:pP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vertices</a:t>
            </a:r>
            <a:endParaRPr sz="2450">
              <a:latin typeface="Tahoma"/>
              <a:cs typeface="Tahoma"/>
            </a:endParaRPr>
          </a:p>
          <a:p>
            <a:pPr marL="66040">
              <a:lnSpc>
                <a:spcPct val="100000"/>
              </a:lnSpc>
              <a:spcBef>
                <a:spcPts val="1870"/>
              </a:spcBef>
            </a:pPr>
            <a:r>
              <a:rPr dirty="0" sz="4800" spc="-360" b="1">
                <a:solidFill>
                  <a:srgbClr val="3BC4B5"/>
                </a:solidFill>
                <a:latin typeface="Tahoma"/>
                <a:cs typeface="Tahoma"/>
              </a:rPr>
              <a:t>8</a:t>
            </a:r>
            <a:endParaRPr sz="4800">
              <a:latin typeface="Tahoma"/>
              <a:cs typeface="Tahoma"/>
            </a:endParaRPr>
          </a:p>
          <a:p>
            <a:pPr marL="46990">
              <a:lnSpc>
                <a:spcPct val="100000"/>
              </a:lnSpc>
              <a:spcBef>
                <a:spcPts val="459"/>
              </a:spcBef>
            </a:pP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weighted</a:t>
            </a:r>
            <a:r>
              <a:rPr dirty="0" sz="2450" spc="6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20">
                <a:solidFill>
                  <a:srgbClr val="FEFEFE"/>
                </a:solidFill>
                <a:latin typeface="Tahoma"/>
                <a:cs typeface="Tahoma"/>
              </a:rPr>
              <a:t>edges</a:t>
            </a:r>
            <a:endParaRPr sz="24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dirty="0" sz="4450" spc="-60" b="1">
                <a:solidFill>
                  <a:srgbClr val="3BC4B5"/>
                </a:solidFill>
                <a:latin typeface="Tahoma"/>
                <a:cs typeface="Tahoma"/>
              </a:rPr>
              <a:t>Undirected</a:t>
            </a:r>
            <a:endParaRPr sz="4450">
              <a:latin typeface="Tahoma"/>
              <a:cs typeface="Tahoma"/>
            </a:endParaRPr>
          </a:p>
          <a:p>
            <a:pPr marL="35560">
              <a:lnSpc>
                <a:spcPct val="100000"/>
              </a:lnSpc>
              <a:spcBef>
                <a:spcPts val="305"/>
              </a:spcBef>
            </a:pP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edges</a:t>
            </a:r>
            <a:r>
              <a:rPr dirty="0" sz="2450" spc="-12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have</a:t>
            </a:r>
            <a:r>
              <a:rPr dirty="0" sz="2450" spc="-114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no</a:t>
            </a:r>
            <a:r>
              <a:rPr dirty="0" sz="2450" spc="-12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direction</a:t>
            </a:r>
            <a:endParaRPr sz="245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268980" y="852708"/>
            <a:ext cx="8496299" cy="750568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2079435" y="748451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3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54842" y="1046236"/>
            <a:ext cx="4591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45" b="1">
                <a:solidFill>
                  <a:srgbClr val="FEFEFE"/>
                </a:solidFill>
                <a:latin typeface="Tahoma"/>
                <a:cs typeface="Tahoma"/>
              </a:rPr>
              <a:t>A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039183" y="1046236"/>
            <a:ext cx="4343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 b="1">
                <a:solidFill>
                  <a:srgbClr val="FEFEFE"/>
                </a:solidFill>
                <a:latin typeface="Tahoma"/>
                <a:cs typeface="Tahoma"/>
              </a:rPr>
              <a:t>B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81645" y="2329840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4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25483" y="2646118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1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757966" y="3173247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3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87573" y="4269256"/>
            <a:ext cx="48958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 b="1">
                <a:solidFill>
                  <a:srgbClr val="FEFEFE"/>
                </a:solidFill>
                <a:latin typeface="Tahoma"/>
                <a:cs typeface="Tahoma"/>
              </a:rPr>
              <a:t>D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72369" y="4073465"/>
            <a:ext cx="42545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 b="1">
                <a:solidFill>
                  <a:srgbClr val="FEFEFE"/>
                </a:solidFill>
                <a:latin typeface="Tahoma"/>
                <a:cs typeface="Tahoma"/>
              </a:rPr>
              <a:t>C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516865" y="5176339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5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57592" y="5959502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6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401278" y="5959502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2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97025" y="7371789"/>
            <a:ext cx="37147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50" b="1">
                <a:solidFill>
                  <a:srgbClr val="FEFEFE"/>
                </a:solidFill>
                <a:latin typeface="Tahoma"/>
                <a:cs typeface="Tahoma"/>
              </a:rPr>
              <a:t>F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61611" y="7296484"/>
            <a:ext cx="37528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45" b="1">
                <a:solidFill>
                  <a:srgbClr val="FEFEFE"/>
                </a:solidFill>
                <a:latin typeface="Tahoma"/>
                <a:cs typeface="Tahoma"/>
              </a:rPr>
              <a:t>E</a:t>
            </a:r>
            <a:endParaRPr sz="48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57966" y="7917412"/>
            <a:ext cx="281940" cy="5556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450" spc="-130" b="1">
                <a:solidFill>
                  <a:srgbClr val="FEFEFE"/>
                </a:solidFill>
                <a:latin typeface="Tahoma"/>
                <a:cs typeface="Tahoma"/>
              </a:rPr>
              <a:t>7</a:t>
            </a:r>
            <a:endParaRPr sz="34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100"/>
              </a:spcBef>
            </a:pPr>
            <a:r>
              <a:rPr dirty="0" sz="2150"/>
              <a:t>Sanket</a:t>
            </a:r>
            <a:r>
              <a:rPr dirty="0" sz="2150" spc="-75"/>
              <a:t> </a:t>
            </a:r>
            <a:r>
              <a:rPr dirty="0" sz="2150"/>
              <a:t>Bhagat</a:t>
            </a:r>
            <a:r>
              <a:rPr dirty="0" sz="2150" spc="-70"/>
              <a:t> </a:t>
            </a:r>
            <a:r>
              <a:rPr dirty="0" sz="2150" spc="-285"/>
              <a:t>|</a:t>
            </a:r>
            <a:r>
              <a:rPr dirty="0" sz="2150" spc="-75"/>
              <a:t> </a:t>
            </a:r>
            <a:r>
              <a:rPr dirty="0" sz="2150"/>
              <a:t>PRN:</a:t>
            </a:r>
            <a:r>
              <a:rPr dirty="0" sz="2150" spc="-70"/>
              <a:t> </a:t>
            </a:r>
            <a:r>
              <a:rPr dirty="0" sz="2150" spc="80"/>
              <a:t>26070521504</a:t>
            </a:r>
            <a:r>
              <a:rPr dirty="0" sz="2150" spc="-70"/>
              <a:t> </a:t>
            </a:r>
            <a:r>
              <a:rPr dirty="0" sz="2150" spc="-285"/>
              <a:t>|</a:t>
            </a:r>
            <a:r>
              <a:rPr dirty="0" sz="2150" spc="-75"/>
              <a:t> </a:t>
            </a:r>
            <a:r>
              <a:rPr dirty="0" sz="2150" spc="45"/>
              <a:t>Division</a:t>
            </a:r>
            <a:r>
              <a:rPr dirty="0" sz="2150" spc="-70"/>
              <a:t> </a:t>
            </a:r>
            <a:r>
              <a:rPr dirty="0" sz="2150" spc="140"/>
              <a:t>D</a:t>
            </a:r>
            <a:endParaRPr sz="2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87919" y="560007"/>
            <a:ext cx="11245850" cy="1510030"/>
          </a:xfrm>
          <a:prstGeom prst="rect"/>
        </p:spPr>
        <p:txBody>
          <a:bodyPr wrap="square" lIns="0" tIns="64769" rIns="0" bIns="0" rtlCol="0" vert="horz">
            <a:spAutoFit/>
          </a:bodyPr>
          <a:lstStyle/>
          <a:p>
            <a:pPr marL="41275" marR="5080" indent="-29209">
              <a:lnSpc>
                <a:spcPts val="5690"/>
              </a:lnSpc>
              <a:spcBef>
                <a:spcPts val="509"/>
              </a:spcBef>
            </a:pPr>
            <a:r>
              <a:rPr dirty="0" sz="5000" spc="-180">
                <a:solidFill>
                  <a:srgbClr val="FEFEFE"/>
                </a:solidFill>
              </a:rPr>
              <a:t>STEP-</a:t>
            </a:r>
            <a:r>
              <a:rPr dirty="0" sz="5000" spc="-95">
                <a:solidFill>
                  <a:srgbClr val="FEFEFE"/>
                </a:solidFill>
              </a:rPr>
              <a:t>BY-</a:t>
            </a:r>
            <a:r>
              <a:rPr dirty="0" sz="5000" spc="-165">
                <a:solidFill>
                  <a:srgbClr val="FEFEFE"/>
                </a:solidFill>
              </a:rPr>
              <a:t>STEP</a:t>
            </a:r>
            <a:r>
              <a:rPr dirty="0" sz="5000" spc="-210">
                <a:solidFill>
                  <a:srgbClr val="FEFEFE"/>
                </a:solidFill>
              </a:rPr>
              <a:t> </a:t>
            </a:r>
            <a:r>
              <a:rPr dirty="0" sz="5000">
                <a:solidFill>
                  <a:srgbClr val="FEFEFE"/>
                </a:solidFill>
              </a:rPr>
              <a:t>MST</a:t>
            </a:r>
            <a:r>
              <a:rPr dirty="0" sz="5000" spc="-204">
                <a:solidFill>
                  <a:srgbClr val="FEFEFE"/>
                </a:solidFill>
              </a:rPr>
              <a:t> </a:t>
            </a:r>
            <a:r>
              <a:rPr dirty="0" sz="5000" spc="-40">
                <a:solidFill>
                  <a:srgbClr val="FEFEFE"/>
                </a:solidFill>
              </a:rPr>
              <a:t>CONSTRUCTION </a:t>
            </a:r>
            <a:r>
              <a:rPr dirty="0" sz="5000" spc="-250">
                <a:solidFill>
                  <a:srgbClr val="49BFCC"/>
                </a:solidFill>
              </a:rPr>
              <a:t>USING</a:t>
            </a:r>
            <a:r>
              <a:rPr dirty="0" sz="5000" spc="-175">
                <a:solidFill>
                  <a:srgbClr val="49BFCC"/>
                </a:solidFill>
              </a:rPr>
              <a:t> </a:t>
            </a:r>
            <a:r>
              <a:rPr dirty="0" sz="5000" spc="-254">
                <a:solidFill>
                  <a:srgbClr val="49BFCC"/>
                </a:solidFill>
              </a:rPr>
              <a:t>PRIM’S</a:t>
            </a:r>
            <a:r>
              <a:rPr dirty="0" sz="5000" spc="-175">
                <a:solidFill>
                  <a:srgbClr val="49BFCC"/>
                </a:solidFill>
              </a:rPr>
              <a:t> </a:t>
            </a:r>
            <a:r>
              <a:rPr dirty="0" sz="5000" spc="-10">
                <a:solidFill>
                  <a:srgbClr val="49BFCC"/>
                </a:solidFill>
              </a:rPr>
              <a:t>ALGORITHM</a:t>
            </a:r>
            <a:endParaRPr sz="500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6573" y="2142670"/>
            <a:ext cx="1543049" cy="2190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4314552" y="1920270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1491811" y="2538412"/>
            <a:ext cx="4258310" cy="2639060"/>
            <a:chOff x="11491811" y="2538412"/>
            <a:chExt cx="4258310" cy="2639060"/>
          </a:xfrm>
        </p:grpSpPr>
        <p:sp>
          <p:nvSpPr>
            <p:cNvPr id="8" name="object 8"/>
            <p:cNvSpPr/>
            <p:nvPr/>
          </p:nvSpPr>
          <p:spPr>
            <a:xfrm>
              <a:off x="13144499" y="2571749"/>
              <a:ext cx="2571750" cy="0"/>
            </a:xfrm>
            <a:custGeom>
              <a:avLst/>
              <a:gdLst/>
              <a:ahLst/>
              <a:cxnLst/>
              <a:rect l="l" t="t" r="r" b="b"/>
              <a:pathLst>
                <a:path w="2571750" h="0">
                  <a:moveTo>
                    <a:pt x="0" y="0"/>
                  </a:moveTo>
                  <a:lnTo>
                    <a:pt x="2571750" y="0"/>
                  </a:lnTo>
                </a:path>
              </a:pathLst>
            </a:custGeom>
            <a:ln w="66675">
              <a:solidFill>
                <a:srgbClr val="2DB1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1525149" y="2571807"/>
              <a:ext cx="1619250" cy="2571750"/>
            </a:xfrm>
            <a:custGeom>
              <a:avLst/>
              <a:gdLst/>
              <a:ahLst/>
              <a:cxnLst/>
              <a:rect l="l" t="t" r="r" b="b"/>
              <a:pathLst>
                <a:path w="1619250" h="2571750">
                  <a:moveTo>
                    <a:pt x="1619247" y="0"/>
                  </a:moveTo>
                  <a:lnTo>
                    <a:pt x="0" y="2571751"/>
                  </a:lnTo>
                </a:path>
              </a:pathLst>
            </a:custGeom>
            <a:ln w="66675">
              <a:solidFill>
                <a:srgbClr val="2DB1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1761821" y="360620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716248" y="2571752"/>
            <a:ext cx="1047750" cy="2571750"/>
          </a:xfrm>
          <a:custGeom>
            <a:avLst/>
            <a:gdLst/>
            <a:ahLst/>
            <a:cxnLst/>
            <a:rect l="l" t="t" r="r" b="b"/>
            <a:pathLst>
              <a:path w="1047750" h="2571750">
                <a:moveTo>
                  <a:pt x="0" y="0"/>
                </a:moveTo>
                <a:lnTo>
                  <a:pt x="1047749" y="2571754"/>
                </a:lnTo>
              </a:path>
            </a:pathLst>
          </a:custGeom>
          <a:ln w="66675">
            <a:solidFill>
              <a:srgbClr val="2DB1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6619571" y="356810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239897" y="5143552"/>
            <a:ext cx="1524000" cy="2095500"/>
          </a:xfrm>
          <a:custGeom>
            <a:avLst/>
            <a:gdLst/>
            <a:ahLst/>
            <a:cxnLst/>
            <a:rect l="l" t="t" r="r" b="b"/>
            <a:pathLst>
              <a:path w="1524000" h="2095500">
                <a:moveTo>
                  <a:pt x="1524000" y="0"/>
                </a:moveTo>
                <a:lnTo>
                  <a:pt x="0" y="2095496"/>
                </a:lnTo>
              </a:path>
            </a:pathLst>
          </a:custGeom>
          <a:ln w="66675">
            <a:solidFill>
              <a:srgbClr val="2DB1A6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11506103" y="5124396"/>
            <a:ext cx="3767454" cy="2148205"/>
            <a:chOff x="11506103" y="5124396"/>
            <a:chExt cx="3767454" cy="2148205"/>
          </a:xfrm>
        </p:grpSpPr>
        <p:sp>
          <p:nvSpPr>
            <p:cNvPr id="17" name="object 17"/>
            <p:cNvSpPr/>
            <p:nvPr/>
          </p:nvSpPr>
          <p:spPr>
            <a:xfrm>
              <a:off x="12573000" y="7238999"/>
              <a:ext cx="2667000" cy="0"/>
            </a:xfrm>
            <a:custGeom>
              <a:avLst/>
              <a:gdLst/>
              <a:ahLst/>
              <a:cxnLst/>
              <a:rect l="l" t="t" r="r" b="b"/>
              <a:pathLst>
                <a:path w="2667000" h="0">
                  <a:moveTo>
                    <a:pt x="2667000" y="0"/>
                  </a:moveTo>
                  <a:lnTo>
                    <a:pt x="0" y="0"/>
                  </a:lnTo>
                </a:path>
              </a:pathLst>
            </a:custGeom>
            <a:ln w="66675">
              <a:solidFill>
                <a:srgbClr val="2DB1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1525153" y="5143446"/>
              <a:ext cx="1047750" cy="2095500"/>
            </a:xfrm>
            <a:custGeom>
              <a:avLst/>
              <a:gdLst/>
              <a:ahLst/>
              <a:cxnLst/>
              <a:rect l="l" t="t" r="r" b="b"/>
              <a:pathLst>
                <a:path w="1047750" h="2095500">
                  <a:moveTo>
                    <a:pt x="1047746" y="2095492"/>
                  </a:moveTo>
                  <a:lnTo>
                    <a:pt x="0" y="0"/>
                  </a:lnTo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/>
          <p:nvPr/>
        </p:nvSpPr>
        <p:spPr>
          <a:xfrm>
            <a:off x="11525248" y="2571738"/>
            <a:ext cx="4191000" cy="2571750"/>
          </a:xfrm>
          <a:custGeom>
            <a:avLst/>
            <a:gdLst/>
            <a:ahLst/>
            <a:cxnLst/>
            <a:rect l="l" t="t" r="r" b="b"/>
            <a:pathLst>
              <a:path w="4191000" h="2571750">
                <a:moveTo>
                  <a:pt x="0" y="2571754"/>
                </a:moveTo>
                <a:lnTo>
                  <a:pt x="4190999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5" name="object 25"/>
          <p:cNvGrpSpPr/>
          <p:nvPr/>
        </p:nvGrpSpPr>
        <p:grpSpPr>
          <a:xfrm>
            <a:off x="12649200" y="2076449"/>
            <a:ext cx="990600" cy="990600"/>
            <a:chOff x="12649200" y="2076449"/>
            <a:chExt cx="990600" cy="990600"/>
          </a:xfrm>
        </p:grpSpPr>
        <p:sp>
          <p:nvSpPr>
            <p:cNvPr id="26" name="object 26"/>
            <p:cNvSpPr/>
            <p:nvPr/>
          </p:nvSpPr>
          <p:spPr>
            <a:xfrm>
              <a:off x="12687299" y="211454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0455" y="912039"/>
                  </a:lnTo>
                  <a:lnTo>
                    <a:pt x="365060" y="905111"/>
                  </a:lnTo>
                  <a:lnTo>
                    <a:pt x="321245" y="893845"/>
                  </a:lnTo>
                  <a:lnTo>
                    <a:pt x="279240" y="878471"/>
                  </a:lnTo>
                  <a:lnTo>
                    <a:pt x="239274" y="859218"/>
                  </a:lnTo>
                  <a:lnTo>
                    <a:pt x="201578" y="836317"/>
                  </a:lnTo>
                  <a:lnTo>
                    <a:pt x="166381" y="809998"/>
                  </a:lnTo>
                  <a:lnTo>
                    <a:pt x="133913" y="780489"/>
                  </a:lnTo>
                  <a:lnTo>
                    <a:pt x="104404" y="748022"/>
                  </a:lnTo>
                  <a:lnTo>
                    <a:pt x="78084" y="712825"/>
                  </a:lnTo>
                  <a:lnTo>
                    <a:pt x="55183" y="675129"/>
                  </a:lnTo>
                  <a:lnTo>
                    <a:pt x="35930" y="635163"/>
                  </a:lnTo>
                  <a:lnTo>
                    <a:pt x="20555" y="593157"/>
                  </a:lnTo>
                  <a:lnTo>
                    <a:pt x="9289" y="549341"/>
                  </a:lnTo>
                  <a:lnTo>
                    <a:pt x="2360" y="503946"/>
                  </a:lnTo>
                  <a:lnTo>
                    <a:pt x="0" y="457199"/>
                  </a:lnTo>
                  <a:lnTo>
                    <a:pt x="2360" y="410453"/>
                  </a:lnTo>
                  <a:lnTo>
                    <a:pt x="9289" y="365058"/>
                  </a:lnTo>
                  <a:lnTo>
                    <a:pt x="20555" y="321242"/>
                  </a:lnTo>
                  <a:lnTo>
                    <a:pt x="35930" y="279236"/>
                  </a:lnTo>
                  <a:lnTo>
                    <a:pt x="55183" y="239270"/>
                  </a:lnTo>
                  <a:lnTo>
                    <a:pt x="78084" y="201574"/>
                  </a:lnTo>
                  <a:lnTo>
                    <a:pt x="104404" y="166377"/>
                  </a:lnTo>
                  <a:lnTo>
                    <a:pt x="133913" y="133910"/>
                  </a:lnTo>
                  <a:lnTo>
                    <a:pt x="166381" y="104401"/>
                  </a:lnTo>
                  <a:lnTo>
                    <a:pt x="201578" y="78082"/>
                  </a:lnTo>
                  <a:lnTo>
                    <a:pt x="239274" y="55181"/>
                  </a:lnTo>
                  <a:lnTo>
                    <a:pt x="279240" y="35928"/>
                  </a:lnTo>
                  <a:lnTo>
                    <a:pt x="321245" y="20554"/>
                  </a:lnTo>
                  <a:lnTo>
                    <a:pt x="365060" y="9288"/>
                  </a:lnTo>
                  <a:lnTo>
                    <a:pt x="410455" y="2360"/>
                  </a:lnTo>
                  <a:lnTo>
                    <a:pt x="457199" y="0"/>
                  </a:lnTo>
                  <a:lnTo>
                    <a:pt x="503944" y="2360"/>
                  </a:lnTo>
                  <a:lnTo>
                    <a:pt x="549339" y="9288"/>
                  </a:lnTo>
                  <a:lnTo>
                    <a:pt x="593154" y="20554"/>
                  </a:lnTo>
                  <a:lnTo>
                    <a:pt x="635159" y="35928"/>
                  </a:lnTo>
                  <a:lnTo>
                    <a:pt x="675125" y="55181"/>
                  </a:lnTo>
                  <a:lnTo>
                    <a:pt x="712821" y="78082"/>
                  </a:lnTo>
                  <a:lnTo>
                    <a:pt x="748018" y="104401"/>
                  </a:lnTo>
                  <a:lnTo>
                    <a:pt x="780486" y="133910"/>
                  </a:lnTo>
                  <a:lnTo>
                    <a:pt x="809995" y="166377"/>
                  </a:lnTo>
                  <a:lnTo>
                    <a:pt x="836315" y="201574"/>
                  </a:lnTo>
                  <a:lnTo>
                    <a:pt x="859216" y="239270"/>
                  </a:lnTo>
                  <a:lnTo>
                    <a:pt x="878469" y="279236"/>
                  </a:lnTo>
                  <a:lnTo>
                    <a:pt x="893844" y="321242"/>
                  </a:lnTo>
                  <a:lnTo>
                    <a:pt x="905110" y="365058"/>
                  </a:lnTo>
                  <a:lnTo>
                    <a:pt x="912039" y="410453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0" y="549341"/>
                  </a:lnTo>
                  <a:lnTo>
                    <a:pt x="893844" y="593157"/>
                  </a:lnTo>
                  <a:lnTo>
                    <a:pt x="878469" y="635163"/>
                  </a:lnTo>
                  <a:lnTo>
                    <a:pt x="859216" y="675129"/>
                  </a:lnTo>
                  <a:lnTo>
                    <a:pt x="836315" y="712825"/>
                  </a:lnTo>
                  <a:lnTo>
                    <a:pt x="809995" y="748022"/>
                  </a:lnTo>
                  <a:lnTo>
                    <a:pt x="780486" y="780489"/>
                  </a:lnTo>
                  <a:lnTo>
                    <a:pt x="748018" y="809998"/>
                  </a:lnTo>
                  <a:lnTo>
                    <a:pt x="712821" y="836317"/>
                  </a:lnTo>
                  <a:lnTo>
                    <a:pt x="675125" y="859218"/>
                  </a:lnTo>
                  <a:lnTo>
                    <a:pt x="635159" y="878471"/>
                  </a:lnTo>
                  <a:lnTo>
                    <a:pt x="593154" y="893845"/>
                  </a:lnTo>
                  <a:lnTo>
                    <a:pt x="549339" y="905111"/>
                  </a:lnTo>
                  <a:lnTo>
                    <a:pt x="503944" y="912039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25B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2687300" y="211454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503946"/>
                  </a:lnTo>
                  <a:lnTo>
                    <a:pt x="9289" y="549341"/>
                  </a:lnTo>
                  <a:lnTo>
                    <a:pt x="20555" y="593157"/>
                  </a:lnTo>
                  <a:lnTo>
                    <a:pt x="35930" y="635162"/>
                  </a:lnTo>
                  <a:lnTo>
                    <a:pt x="55182" y="675128"/>
                  </a:lnTo>
                  <a:lnTo>
                    <a:pt x="78084" y="712824"/>
                  </a:lnTo>
                  <a:lnTo>
                    <a:pt x="104403" y="748020"/>
                  </a:lnTo>
                  <a:lnTo>
                    <a:pt x="133912" y="780487"/>
                  </a:lnTo>
                  <a:lnTo>
                    <a:pt x="166379" y="809996"/>
                  </a:lnTo>
                  <a:lnTo>
                    <a:pt x="201576" y="836315"/>
                  </a:lnTo>
                  <a:lnTo>
                    <a:pt x="239272" y="859217"/>
                  </a:lnTo>
                  <a:lnTo>
                    <a:pt x="279237" y="878469"/>
                  </a:lnTo>
                  <a:lnTo>
                    <a:pt x="321243" y="893844"/>
                  </a:lnTo>
                  <a:lnTo>
                    <a:pt x="365058" y="905110"/>
                  </a:lnTo>
                  <a:lnTo>
                    <a:pt x="410454" y="912039"/>
                  </a:lnTo>
                  <a:lnTo>
                    <a:pt x="457200" y="914399"/>
                  </a:lnTo>
                  <a:lnTo>
                    <a:pt x="503946" y="912039"/>
                  </a:lnTo>
                  <a:lnTo>
                    <a:pt x="549342" y="905110"/>
                  </a:lnTo>
                  <a:lnTo>
                    <a:pt x="593157" y="893844"/>
                  </a:lnTo>
                  <a:lnTo>
                    <a:pt x="635162" y="878469"/>
                  </a:lnTo>
                  <a:lnTo>
                    <a:pt x="675128" y="859216"/>
                  </a:lnTo>
                  <a:lnTo>
                    <a:pt x="712824" y="836315"/>
                  </a:lnTo>
                  <a:lnTo>
                    <a:pt x="748020" y="809996"/>
                  </a:lnTo>
                  <a:lnTo>
                    <a:pt x="780488" y="780487"/>
                  </a:lnTo>
                  <a:lnTo>
                    <a:pt x="809996" y="748020"/>
                  </a:lnTo>
                  <a:lnTo>
                    <a:pt x="836316" y="712823"/>
                  </a:lnTo>
                  <a:lnTo>
                    <a:pt x="859217" y="675127"/>
                  </a:lnTo>
                  <a:lnTo>
                    <a:pt x="878470" y="635162"/>
                  </a:lnTo>
                  <a:lnTo>
                    <a:pt x="893844" y="593157"/>
                  </a:lnTo>
                  <a:lnTo>
                    <a:pt x="905111" y="549341"/>
                  </a:lnTo>
                  <a:lnTo>
                    <a:pt x="912039" y="503946"/>
                  </a:lnTo>
                  <a:lnTo>
                    <a:pt x="914400" y="457200"/>
                  </a:lnTo>
                  <a:lnTo>
                    <a:pt x="912039" y="410453"/>
                  </a:lnTo>
                  <a:lnTo>
                    <a:pt x="905111" y="365058"/>
                  </a:lnTo>
                  <a:lnTo>
                    <a:pt x="893844" y="321242"/>
                  </a:lnTo>
                  <a:lnTo>
                    <a:pt x="878470" y="279237"/>
                  </a:lnTo>
                  <a:lnTo>
                    <a:pt x="859217" y="239271"/>
                  </a:lnTo>
                  <a:lnTo>
                    <a:pt x="836316" y="201576"/>
                  </a:lnTo>
                  <a:lnTo>
                    <a:pt x="809996" y="166379"/>
                  </a:lnTo>
                  <a:lnTo>
                    <a:pt x="780487" y="133912"/>
                  </a:lnTo>
                  <a:lnTo>
                    <a:pt x="748020" y="104403"/>
                  </a:lnTo>
                  <a:lnTo>
                    <a:pt x="712823" y="78084"/>
                  </a:lnTo>
                  <a:lnTo>
                    <a:pt x="675128" y="55183"/>
                  </a:lnTo>
                  <a:lnTo>
                    <a:pt x="635162" y="35930"/>
                  </a:lnTo>
                  <a:lnTo>
                    <a:pt x="593157" y="20555"/>
                  </a:lnTo>
                  <a:lnTo>
                    <a:pt x="549341" y="9289"/>
                  </a:lnTo>
                  <a:lnTo>
                    <a:pt x="503946" y="2360"/>
                  </a:lnTo>
                  <a:lnTo>
                    <a:pt x="457200" y="0"/>
                  </a:lnTo>
                  <a:lnTo>
                    <a:pt x="410454" y="2360"/>
                  </a:lnTo>
                  <a:lnTo>
                    <a:pt x="365058" y="9288"/>
                  </a:lnTo>
                  <a:lnTo>
                    <a:pt x="321243" y="20555"/>
                  </a:lnTo>
                  <a:lnTo>
                    <a:pt x="279237" y="35929"/>
                  </a:lnTo>
                  <a:lnTo>
                    <a:pt x="239272" y="55182"/>
                  </a:lnTo>
                  <a:lnTo>
                    <a:pt x="201576" y="78083"/>
                  </a:lnTo>
                  <a:lnTo>
                    <a:pt x="166379" y="104403"/>
                  </a:lnTo>
                  <a:lnTo>
                    <a:pt x="133912" y="133911"/>
                  </a:lnTo>
                  <a:lnTo>
                    <a:pt x="104403" y="166379"/>
                  </a:lnTo>
                  <a:lnTo>
                    <a:pt x="78083" y="201575"/>
                  </a:lnTo>
                  <a:lnTo>
                    <a:pt x="55182" y="239271"/>
                  </a:lnTo>
                  <a:lnTo>
                    <a:pt x="35929" y="279237"/>
                  </a:lnTo>
                  <a:lnTo>
                    <a:pt x="20555" y="321242"/>
                  </a:lnTo>
                  <a:lnTo>
                    <a:pt x="9288" y="365058"/>
                  </a:lnTo>
                  <a:lnTo>
                    <a:pt x="2360" y="410453"/>
                  </a:lnTo>
                  <a:lnTo>
                    <a:pt x="0" y="4572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12981781" y="2298731"/>
            <a:ext cx="32575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 b="1">
                <a:solidFill>
                  <a:srgbClr val="FFFFFF"/>
                </a:solidFill>
                <a:latin typeface="Tahoma"/>
                <a:cs typeface="Tahoma"/>
              </a:rPr>
              <a:t>A</a:t>
            </a:r>
            <a:endParaRPr sz="3400">
              <a:latin typeface="Tahoma"/>
              <a:cs typeface="Tahom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220950" y="2076449"/>
            <a:ext cx="990600" cy="990600"/>
            <a:chOff x="15220950" y="2076449"/>
            <a:chExt cx="990600" cy="990600"/>
          </a:xfrm>
        </p:grpSpPr>
        <p:sp>
          <p:nvSpPr>
            <p:cNvPr id="30" name="object 30"/>
            <p:cNvSpPr/>
            <p:nvPr/>
          </p:nvSpPr>
          <p:spPr>
            <a:xfrm>
              <a:off x="15259049" y="211454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0455" y="912039"/>
                  </a:lnTo>
                  <a:lnTo>
                    <a:pt x="365060" y="905111"/>
                  </a:lnTo>
                  <a:lnTo>
                    <a:pt x="321245" y="893845"/>
                  </a:lnTo>
                  <a:lnTo>
                    <a:pt x="279240" y="878471"/>
                  </a:lnTo>
                  <a:lnTo>
                    <a:pt x="239274" y="859218"/>
                  </a:lnTo>
                  <a:lnTo>
                    <a:pt x="201578" y="836317"/>
                  </a:lnTo>
                  <a:lnTo>
                    <a:pt x="166381" y="809998"/>
                  </a:lnTo>
                  <a:lnTo>
                    <a:pt x="133913" y="780489"/>
                  </a:lnTo>
                  <a:lnTo>
                    <a:pt x="104404" y="748022"/>
                  </a:lnTo>
                  <a:lnTo>
                    <a:pt x="78084" y="712825"/>
                  </a:lnTo>
                  <a:lnTo>
                    <a:pt x="55183" y="675129"/>
                  </a:lnTo>
                  <a:lnTo>
                    <a:pt x="35930" y="635163"/>
                  </a:lnTo>
                  <a:lnTo>
                    <a:pt x="20555" y="593157"/>
                  </a:lnTo>
                  <a:lnTo>
                    <a:pt x="9289" y="549341"/>
                  </a:lnTo>
                  <a:lnTo>
                    <a:pt x="2360" y="503946"/>
                  </a:lnTo>
                  <a:lnTo>
                    <a:pt x="0" y="457199"/>
                  </a:lnTo>
                  <a:lnTo>
                    <a:pt x="2360" y="410453"/>
                  </a:lnTo>
                  <a:lnTo>
                    <a:pt x="9289" y="365058"/>
                  </a:lnTo>
                  <a:lnTo>
                    <a:pt x="20555" y="321242"/>
                  </a:lnTo>
                  <a:lnTo>
                    <a:pt x="35930" y="279236"/>
                  </a:lnTo>
                  <a:lnTo>
                    <a:pt x="55183" y="239270"/>
                  </a:lnTo>
                  <a:lnTo>
                    <a:pt x="78084" y="201574"/>
                  </a:lnTo>
                  <a:lnTo>
                    <a:pt x="104404" y="166377"/>
                  </a:lnTo>
                  <a:lnTo>
                    <a:pt x="133913" y="133910"/>
                  </a:lnTo>
                  <a:lnTo>
                    <a:pt x="166381" y="104401"/>
                  </a:lnTo>
                  <a:lnTo>
                    <a:pt x="201578" y="78082"/>
                  </a:lnTo>
                  <a:lnTo>
                    <a:pt x="239274" y="55181"/>
                  </a:lnTo>
                  <a:lnTo>
                    <a:pt x="279240" y="35928"/>
                  </a:lnTo>
                  <a:lnTo>
                    <a:pt x="321245" y="20554"/>
                  </a:lnTo>
                  <a:lnTo>
                    <a:pt x="365060" y="9288"/>
                  </a:lnTo>
                  <a:lnTo>
                    <a:pt x="410455" y="2360"/>
                  </a:lnTo>
                  <a:lnTo>
                    <a:pt x="457199" y="0"/>
                  </a:lnTo>
                  <a:lnTo>
                    <a:pt x="503944" y="2360"/>
                  </a:lnTo>
                  <a:lnTo>
                    <a:pt x="549339" y="9288"/>
                  </a:lnTo>
                  <a:lnTo>
                    <a:pt x="593154" y="20554"/>
                  </a:lnTo>
                  <a:lnTo>
                    <a:pt x="635159" y="35928"/>
                  </a:lnTo>
                  <a:lnTo>
                    <a:pt x="675125" y="55181"/>
                  </a:lnTo>
                  <a:lnTo>
                    <a:pt x="712821" y="78082"/>
                  </a:lnTo>
                  <a:lnTo>
                    <a:pt x="748018" y="104401"/>
                  </a:lnTo>
                  <a:lnTo>
                    <a:pt x="780486" y="133910"/>
                  </a:lnTo>
                  <a:lnTo>
                    <a:pt x="809995" y="166377"/>
                  </a:lnTo>
                  <a:lnTo>
                    <a:pt x="836315" y="201574"/>
                  </a:lnTo>
                  <a:lnTo>
                    <a:pt x="859216" y="239270"/>
                  </a:lnTo>
                  <a:lnTo>
                    <a:pt x="878469" y="279236"/>
                  </a:lnTo>
                  <a:lnTo>
                    <a:pt x="893844" y="321242"/>
                  </a:lnTo>
                  <a:lnTo>
                    <a:pt x="905110" y="365058"/>
                  </a:lnTo>
                  <a:lnTo>
                    <a:pt x="912039" y="410453"/>
                  </a:lnTo>
                  <a:lnTo>
                    <a:pt x="914399" y="457199"/>
                  </a:lnTo>
                  <a:lnTo>
                    <a:pt x="912039" y="503946"/>
                  </a:lnTo>
                  <a:lnTo>
                    <a:pt x="905110" y="549341"/>
                  </a:lnTo>
                  <a:lnTo>
                    <a:pt x="893844" y="593157"/>
                  </a:lnTo>
                  <a:lnTo>
                    <a:pt x="878469" y="635163"/>
                  </a:lnTo>
                  <a:lnTo>
                    <a:pt x="859216" y="675129"/>
                  </a:lnTo>
                  <a:lnTo>
                    <a:pt x="836315" y="712825"/>
                  </a:lnTo>
                  <a:lnTo>
                    <a:pt x="809995" y="748022"/>
                  </a:lnTo>
                  <a:lnTo>
                    <a:pt x="780486" y="780489"/>
                  </a:lnTo>
                  <a:lnTo>
                    <a:pt x="748018" y="809998"/>
                  </a:lnTo>
                  <a:lnTo>
                    <a:pt x="712821" y="836317"/>
                  </a:lnTo>
                  <a:lnTo>
                    <a:pt x="675125" y="859218"/>
                  </a:lnTo>
                  <a:lnTo>
                    <a:pt x="635159" y="878471"/>
                  </a:lnTo>
                  <a:lnTo>
                    <a:pt x="593154" y="893845"/>
                  </a:lnTo>
                  <a:lnTo>
                    <a:pt x="549339" y="905111"/>
                  </a:lnTo>
                  <a:lnTo>
                    <a:pt x="503944" y="912039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25B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5259050" y="211454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503946"/>
                  </a:lnTo>
                  <a:lnTo>
                    <a:pt x="9289" y="549341"/>
                  </a:lnTo>
                  <a:lnTo>
                    <a:pt x="20555" y="593157"/>
                  </a:lnTo>
                  <a:lnTo>
                    <a:pt x="35930" y="635162"/>
                  </a:lnTo>
                  <a:lnTo>
                    <a:pt x="55182" y="675128"/>
                  </a:lnTo>
                  <a:lnTo>
                    <a:pt x="78084" y="712824"/>
                  </a:lnTo>
                  <a:lnTo>
                    <a:pt x="104403" y="748020"/>
                  </a:lnTo>
                  <a:lnTo>
                    <a:pt x="133912" y="780488"/>
                  </a:lnTo>
                  <a:lnTo>
                    <a:pt x="166379" y="809996"/>
                  </a:lnTo>
                  <a:lnTo>
                    <a:pt x="201576" y="836315"/>
                  </a:lnTo>
                  <a:lnTo>
                    <a:pt x="239272" y="859217"/>
                  </a:lnTo>
                  <a:lnTo>
                    <a:pt x="279237" y="878469"/>
                  </a:lnTo>
                  <a:lnTo>
                    <a:pt x="321243" y="893844"/>
                  </a:lnTo>
                  <a:lnTo>
                    <a:pt x="365058" y="905110"/>
                  </a:lnTo>
                  <a:lnTo>
                    <a:pt x="410454" y="912039"/>
                  </a:lnTo>
                  <a:lnTo>
                    <a:pt x="457200" y="914399"/>
                  </a:lnTo>
                  <a:lnTo>
                    <a:pt x="503946" y="912039"/>
                  </a:lnTo>
                  <a:lnTo>
                    <a:pt x="549342" y="905110"/>
                  </a:lnTo>
                  <a:lnTo>
                    <a:pt x="593157" y="893844"/>
                  </a:lnTo>
                  <a:lnTo>
                    <a:pt x="635162" y="878469"/>
                  </a:lnTo>
                  <a:lnTo>
                    <a:pt x="675128" y="859216"/>
                  </a:lnTo>
                  <a:lnTo>
                    <a:pt x="712824" y="836315"/>
                  </a:lnTo>
                  <a:lnTo>
                    <a:pt x="748020" y="809996"/>
                  </a:lnTo>
                  <a:lnTo>
                    <a:pt x="780488" y="780487"/>
                  </a:lnTo>
                  <a:lnTo>
                    <a:pt x="809996" y="748020"/>
                  </a:lnTo>
                  <a:lnTo>
                    <a:pt x="836316" y="712823"/>
                  </a:lnTo>
                  <a:lnTo>
                    <a:pt x="859217" y="675127"/>
                  </a:lnTo>
                  <a:lnTo>
                    <a:pt x="878470" y="635162"/>
                  </a:lnTo>
                  <a:lnTo>
                    <a:pt x="893844" y="593157"/>
                  </a:lnTo>
                  <a:lnTo>
                    <a:pt x="905111" y="549341"/>
                  </a:lnTo>
                  <a:lnTo>
                    <a:pt x="912039" y="503946"/>
                  </a:lnTo>
                  <a:lnTo>
                    <a:pt x="914400" y="457200"/>
                  </a:lnTo>
                  <a:lnTo>
                    <a:pt x="912039" y="410453"/>
                  </a:lnTo>
                  <a:lnTo>
                    <a:pt x="905111" y="365058"/>
                  </a:lnTo>
                  <a:lnTo>
                    <a:pt x="893844" y="321242"/>
                  </a:lnTo>
                  <a:lnTo>
                    <a:pt x="878470" y="279237"/>
                  </a:lnTo>
                  <a:lnTo>
                    <a:pt x="859217" y="239271"/>
                  </a:lnTo>
                  <a:lnTo>
                    <a:pt x="836316" y="201576"/>
                  </a:lnTo>
                  <a:lnTo>
                    <a:pt x="809996" y="166379"/>
                  </a:lnTo>
                  <a:lnTo>
                    <a:pt x="780487" y="133912"/>
                  </a:lnTo>
                  <a:lnTo>
                    <a:pt x="748020" y="104403"/>
                  </a:lnTo>
                  <a:lnTo>
                    <a:pt x="712823" y="78084"/>
                  </a:lnTo>
                  <a:lnTo>
                    <a:pt x="675128" y="55183"/>
                  </a:lnTo>
                  <a:lnTo>
                    <a:pt x="635162" y="35930"/>
                  </a:lnTo>
                  <a:lnTo>
                    <a:pt x="593157" y="20555"/>
                  </a:lnTo>
                  <a:lnTo>
                    <a:pt x="549342" y="9289"/>
                  </a:lnTo>
                  <a:lnTo>
                    <a:pt x="503946" y="2360"/>
                  </a:lnTo>
                  <a:lnTo>
                    <a:pt x="457200" y="0"/>
                  </a:lnTo>
                  <a:lnTo>
                    <a:pt x="410454" y="2360"/>
                  </a:lnTo>
                  <a:lnTo>
                    <a:pt x="365058" y="9288"/>
                  </a:lnTo>
                  <a:lnTo>
                    <a:pt x="321243" y="20555"/>
                  </a:lnTo>
                  <a:lnTo>
                    <a:pt x="279237" y="35929"/>
                  </a:lnTo>
                  <a:lnTo>
                    <a:pt x="239272" y="55182"/>
                  </a:lnTo>
                  <a:lnTo>
                    <a:pt x="201576" y="78083"/>
                  </a:lnTo>
                  <a:lnTo>
                    <a:pt x="166379" y="104403"/>
                  </a:lnTo>
                  <a:lnTo>
                    <a:pt x="133912" y="133911"/>
                  </a:lnTo>
                  <a:lnTo>
                    <a:pt x="104403" y="166379"/>
                  </a:lnTo>
                  <a:lnTo>
                    <a:pt x="78083" y="201575"/>
                  </a:lnTo>
                  <a:lnTo>
                    <a:pt x="55182" y="239271"/>
                  </a:lnTo>
                  <a:lnTo>
                    <a:pt x="35929" y="279237"/>
                  </a:lnTo>
                  <a:lnTo>
                    <a:pt x="20555" y="321242"/>
                  </a:lnTo>
                  <a:lnTo>
                    <a:pt x="9288" y="365058"/>
                  </a:lnTo>
                  <a:lnTo>
                    <a:pt x="2360" y="410453"/>
                  </a:lnTo>
                  <a:lnTo>
                    <a:pt x="0" y="4572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5561270" y="2298731"/>
            <a:ext cx="30988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 b="1">
                <a:solidFill>
                  <a:srgbClr val="FFFFFF"/>
                </a:solidFill>
                <a:latin typeface="Tahoma"/>
                <a:cs typeface="Tahoma"/>
              </a:rPr>
              <a:t>B</a:t>
            </a:r>
            <a:endParaRPr sz="3400">
              <a:latin typeface="Tahoma"/>
              <a:cs typeface="Tahom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04825" y="2695574"/>
            <a:ext cx="10135235" cy="6324600"/>
            <a:chOff x="504825" y="2695574"/>
            <a:chExt cx="10135235" cy="6324600"/>
          </a:xfrm>
        </p:grpSpPr>
        <p:sp>
          <p:nvSpPr>
            <p:cNvPr id="51" name="object 51"/>
            <p:cNvSpPr/>
            <p:nvPr/>
          </p:nvSpPr>
          <p:spPr>
            <a:xfrm>
              <a:off x="523875" y="2714624"/>
              <a:ext cx="10097135" cy="6286500"/>
            </a:xfrm>
            <a:custGeom>
              <a:avLst/>
              <a:gdLst/>
              <a:ahLst/>
              <a:cxnLst/>
              <a:rect l="l" t="t" r="r" b="b"/>
              <a:pathLst>
                <a:path w="10097135" h="6286500">
                  <a:moveTo>
                    <a:pt x="9963134" y="6286484"/>
                  </a:moveTo>
                  <a:lnTo>
                    <a:pt x="133350" y="6286484"/>
                  </a:lnTo>
                  <a:lnTo>
                    <a:pt x="91201" y="6279688"/>
                  </a:lnTo>
                  <a:lnTo>
                    <a:pt x="54595" y="6260764"/>
                  </a:lnTo>
                  <a:lnTo>
                    <a:pt x="25729" y="6231906"/>
                  </a:lnTo>
                  <a:lnTo>
                    <a:pt x="6798" y="6195308"/>
                  </a:lnTo>
                  <a:lnTo>
                    <a:pt x="0" y="6153165"/>
                  </a:lnTo>
                  <a:lnTo>
                    <a:pt x="0" y="133350"/>
                  </a:lnTo>
                  <a:lnTo>
                    <a:pt x="6798" y="91201"/>
                  </a:lnTo>
                  <a:lnTo>
                    <a:pt x="25729" y="54595"/>
                  </a:lnTo>
                  <a:lnTo>
                    <a:pt x="54595" y="25729"/>
                  </a:lnTo>
                  <a:lnTo>
                    <a:pt x="91201" y="6798"/>
                  </a:lnTo>
                  <a:lnTo>
                    <a:pt x="133350" y="0"/>
                  </a:lnTo>
                  <a:lnTo>
                    <a:pt x="9963134" y="0"/>
                  </a:lnTo>
                  <a:lnTo>
                    <a:pt x="10005295" y="6798"/>
                  </a:lnTo>
                  <a:lnTo>
                    <a:pt x="10041910" y="25729"/>
                  </a:lnTo>
                  <a:lnTo>
                    <a:pt x="10070782" y="54595"/>
                  </a:lnTo>
                  <a:lnTo>
                    <a:pt x="10089716" y="91201"/>
                  </a:lnTo>
                  <a:lnTo>
                    <a:pt x="10096515" y="133350"/>
                  </a:lnTo>
                  <a:lnTo>
                    <a:pt x="10096515" y="6153165"/>
                  </a:lnTo>
                  <a:lnTo>
                    <a:pt x="10089716" y="6195308"/>
                  </a:lnTo>
                  <a:lnTo>
                    <a:pt x="10070782" y="6231906"/>
                  </a:lnTo>
                  <a:lnTo>
                    <a:pt x="10041910" y="6260764"/>
                  </a:lnTo>
                  <a:lnTo>
                    <a:pt x="10005295" y="6279688"/>
                  </a:lnTo>
                  <a:lnTo>
                    <a:pt x="9963134" y="6286484"/>
                  </a:lnTo>
                  <a:close/>
                </a:path>
              </a:pathLst>
            </a:custGeom>
            <a:solidFill>
              <a:srgbClr val="0D29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523875" y="2714624"/>
              <a:ext cx="10097135" cy="6286500"/>
            </a:xfrm>
            <a:custGeom>
              <a:avLst/>
              <a:gdLst/>
              <a:ahLst/>
              <a:cxnLst/>
              <a:rect l="l" t="t" r="r" b="b"/>
              <a:pathLst>
                <a:path w="10097135" h="6286500">
                  <a:moveTo>
                    <a:pt x="133350" y="0"/>
                  </a:moveTo>
                  <a:lnTo>
                    <a:pt x="9963150" y="0"/>
                  </a:lnTo>
                  <a:lnTo>
                    <a:pt x="10005292" y="6796"/>
                  </a:lnTo>
                  <a:lnTo>
                    <a:pt x="10041903" y="25722"/>
                  </a:lnTo>
                  <a:lnTo>
                    <a:pt x="10070778" y="54588"/>
                  </a:lnTo>
                  <a:lnTo>
                    <a:pt x="10089715" y="91198"/>
                  </a:lnTo>
                  <a:lnTo>
                    <a:pt x="10096515" y="133350"/>
                  </a:lnTo>
                  <a:lnTo>
                    <a:pt x="10096517" y="6153152"/>
                  </a:lnTo>
                  <a:lnTo>
                    <a:pt x="10089716" y="6195307"/>
                  </a:lnTo>
                  <a:lnTo>
                    <a:pt x="10070774" y="6231913"/>
                  </a:lnTo>
                  <a:lnTo>
                    <a:pt x="10041896" y="6260771"/>
                  </a:lnTo>
                  <a:lnTo>
                    <a:pt x="10005290" y="6279689"/>
                  </a:lnTo>
                  <a:lnTo>
                    <a:pt x="9963150" y="6286484"/>
                  </a:lnTo>
                  <a:lnTo>
                    <a:pt x="133352" y="6286485"/>
                  </a:lnTo>
                  <a:lnTo>
                    <a:pt x="91206" y="6279691"/>
                  </a:lnTo>
                  <a:lnTo>
                    <a:pt x="54598" y="6260767"/>
                  </a:lnTo>
                  <a:lnTo>
                    <a:pt x="25728" y="6231905"/>
                  </a:lnTo>
                  <a:lnTo>
                    <a:pt x="6797" y="6195299"/>
                  </a:lnTo>
                  <a:lnTo>
                    <a:pt x="0" y="6153150"/>
                  </a:lnTo>
                  <a:lnTo>
                    <a:pt x="0" y="133350"/>
                  </a:lnTo>
                  <a:lnTo>
                    <a:pt x="6798" y="91201"/>
                  </a:lnTo>
                  <a:lnTo>
                    <a:pt x="25729" y="54595"/>
                  </a:lnTo>
                  <a:lnTo>
                    <a:pt x="54595" y="25729"/>
                  </a:lnTo>
                  <a:lnTo>
                    <a:pt x="91201" y="6798"/>
                  </a:lnTo>
                  <a:lnTo>
                    <a:pt x="133350" y="0"/>
                  </a:lnTo>
                </a:path>
              </a:pathLst>
            </a:custGeom>
            <a:ln w="38100">
              <a:solidFill>
                <a:srgbClr val="2DB1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666750" y="2905124"/>
              <a:ext cx="9810750" cy="742950"/>
            </a:xfrm>
            <a:custGeom>
              <a:avLst/>
              <a:gdLst/>
              <a:ahLst/>
              <a:cxnLst/>
              <a:rect l="l" t="t" r="r" b="b"/>
              <a:pathLst>
                <a:path w="9810750" h="742950">
                  <a:moveTo>
                    <a:pt x="9734550" y="742934"/>
                  </a:moveTo>
                  <a:lnTo>
                    <a:pt x="76200" y="742934"/>
                  </a:lnTo>
                  <a:lnTo>
                    <a:pt x="46539" y="736948"/>
                  </a:lnTo>
                  <a:lnTo>
                    <a:pt x="22318" y="720623"/>
                  </a:lnTo>
                  <a:lnTo>
                    <a:pt x="5988" y="696411"/>
                  </a:lnTo>
                  <a:lnTo>
                    <a:pt x="0" y="666765"/>
                  </a:lnTo>
                  <a:lnTo>
                    <a:pt x="0" y="76200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200" y="0"/>
                  </a:lnTo>
                  <a:lnTo>
                    <a:pt x="9734550" y="0"/>
                  </a:lnTo>
                  <a:lnTo>
                    <a:pt x="9764214" y="5988"/>
                  </a:lnTo>
                  <a:lnTo>
                    <a:pt x="9788434" y="22318"/>
                  </a:lnTo>
                  <a:lnTo>
                    <a:pt x="9804763" y="46539"/>
                  </a:lnTo>
                  <a:lnTo>
                    <a:pt x="9810750" y="76200"/>
                  </a:lnTo>
                  <a:lnTo>
                    <a:pt x="9810750" y="666765"/>
                  </a:lnTo>
                  <a:lnTo>
                    <a:pt x="9804763" y="696411"/>
                  </a:lnTo>
                  <a:lnTo>
                    <a:pt x="9788434" y="720623"/>
                  </a:lnTo>
                  <a:lnTo>
                    <a:pt x="9764214" y="736948"/>
                  </a:lnTo>
                  <a:lnTo>
                    <a:pt x="9734550" y="742934"/>
                  </a:lnTo>
                  <a:close/>
                </a:path>
              </a:pathLst>
            </a:custGeom>
            <a:solidFill>
              <a:srgbClr val="123B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666750" y="2905124"/>
              <a:ext cx="9810750" cy="742950"/>
            </a:xfrm>
            <a:custGeom>
              <a:avLst/>
              <a:gdLst/>
              <a:ahLst/>
              <a:cxnLst/>
              <a:rect l="l" t="t" r="r" b="b"/>
              <a:pathLst>
                <a:path w="9810750" h="742950">
                  <a:moveTo>
                    <a:pt x="76200" y="0"/>
                  </a:moveTo>
                  <a:lnTo>
                    <a:pt x="9734550" y="0"/>
                  </a:lnTo>
                  <a:lnTo>
                    <a:pt x="9764216" y="5989"/>
                  </a:lnTo>
                  <a:lnTo>
                    <a:pt x="9788435" y="22319"/>
                  </a:lnTo>
                  <a:lnTo>
                    <a:pt x="9804763" y="46539"/>
                  </a:lnTo>
                  <a:lnTo>
                    <a:pt x="9810750" y="76200"/>
                  </a:lnTo>
                  <a:lnTo>
                    <a:pt x="9810753" y="666750"/>
                  </a:lnTo>
                  <a:lnTo>
                    <a:pt x="9804764" y="696410"/>
                  </a:lnTo>
                  <a:lnTo>
                    <a:pt x="9788433" y="720624"/>
                  </a:lnTo>
                  <a:lnTo>
                    <a:pt x="9764214" y="736948"/>
                  </a:lnTo>
                  <a:lnTo>
                    <a:pt x="9734550" y="742934"/>
                  </a:lnTo>
                  <a:lnTo>
                    <a:pt x="76203" y="742935"/>
                  </a:lnTo>
                  <a:lnTo>
                    <a:pt x="46545" y="736952"/>
                  </a:lnTo>
                  <a:lnTo>
                    <a:pt x="22322" y="720629"/>
                  </a:lnTo>
                  <a:lnTo>
                    <a:pt x="5988" y="696410"/>
                  </a:lnTo>
                  <a:lnTo>
                    <a:pt x="0" y="666750"/>
                  </a:lnTo>
                  <a:lnTo>
                    <a:pt x="0" y="76200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200" y="0"/>
                  </a:lnTo>
                </a:path>
              </a:pathLst>
            </a:custGeom>
            <a:ln w="19050">
              <a:solidFill>
                <a:srgbClr val="2DB1A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860474" y="3078120"/>
            <a:ext cx="1041400" cy="3429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50" spc="-135" b="1">
                <a:solidFill>
                  <a:srgbClr val="FFFFFF"/>
                </a:solidFill>
                <a:latin typeface="Tahoma"/>
                <a:cs typeface="Tahoma"/>
              </a:rPr>
              <a:t>Iteration</a:t>
            </a:r>
            <a:endParaRPr sz="2050">
              <a:latin typeface="Tahoma"/>
              <a:cs typeface="Tahom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270472" y="3081019"/>
            <a:ext cx="19361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0" b="1">
                <a:solidFill>
                  <a:srgbClr val="FFFFFF"/>
                </a:solidFill>
                <a:latin typeface="Tahoma"/>
                <a:cs typeface="Tahoma"/>
              </a:rPr>
              <a:t>Selected</a:t>
            </a:r>
            <a:r>
              <a:rPr dirty="0" sz="2400" spc="-11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140" b="1">
                <a:solidFill>
                  <a:srgbClr val="FFFFFF"/>
                </a:solidFill>
                <a:latin typeface="Tahoma"/>
                <a:cs typeface="Tahoma"/>
              </a:rPr>
              <a:t>Edge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627314" y="3081019"/>
            <a:ext cx="10325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 b="1">
                <a:solidFill>
                  <a:srgbClr val="FFFFFF"/>
                </a:solidFill>
                <a:latin typeface="Tahoma"/>
                <a:cs typeface="Tahoma"/>
              </a:rPr>
              <a:t>Weight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6045051" y="3081019"/>
            <a:ext cx="2387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20" b="1">
                <a:solidFill>
                  <a:srgbClr val="FFFFFF"/>
                </a:solidFill>
                <a:latin typeface="Tahoma"/>
                <a:cs typeface="Tahoma"/>
              </a:rPr>
              <a:t>Vertices</a:t>
            </a:r>
            <a:r>
              <a:rPr dirty="0" sz="2400" spc="-114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400" spc="-180" b="1">
                <a:solidFill>
                  <a:srgbClr val="FFFFFF"/>
                </a:solidFill>
                <a:latin typeface="Tahoma"/>
                <a:cs typeface="Tahoma"/>
              </a:rPr>
              <a:t>Included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867427" y="3075899"/>
            <a:ext cx="1410335" cy="2514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50" spc="-85" b="1">
                <a:solidFill>
                  <a:srgbClr val="FFFFFF"/>
                </a:solidFill>
                <a:latin typeface="Tahoma"/>
                <a:cs typeface="Tahoma"/>
              </a:rPr>
              <a:t>Cumulative</a:t>
            </a:r>
            <a:r>
              <a:rPr dirty="0" sz="1450" spc="-30" b="1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1450" spc="-20" b="1">
                <a:solidFill>
                  <a:srgbClr val="FFFFFF"/>
                </a:solidFill>
                <a:latin typeface="Tahoma"/>
                <a:cs typeface="Tahoma"/>
              </a:rPr>
              <a:t>Cost</a:t>
            </a:r>
            <a:endParaRPr sz="14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447762" y="328235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66750" y="3752849"/>
            <a:ext cx="9810750" cy="742950"/>
          </a:xfrm>
          <a:custGeom>
            <a:avLst/>
            <a:gdLst/>
            <a:ahLst/>
            <a:cxnLst/>
            <a:rect l="l" t="t" r="r" b="b"/>
            <a:pathLst>
              <a:path w="9810750" h="742950">
                <a:moveTo>
                  <a:pt x="9753600" y="742950"/>
                </a:moveTo>
                <a:lnTo>
                  <a:pt x="57150" y="742950"/>
                </a:lnTo>
                <a:lnTo>
                  <a:pt x="34905" y="738460"/>
                </a:lnTo>
                <a:lnTo>
                  <a:pt x="16739" y="726216"/>
                </a:lnTo>
                <a:lnTo>
                  <a:pt x="4491" y="708051"/>
                </a:lnTo>
                <a:lnTo>
                  <a:pt x="0" y="685800"/>
                </a:lnTo>
                <a:lnTo>
                  <a:pt x="0" y="57150"/>
                </a:lnTo>
                <a:lnTo>
                  <a:pt x="4491" y="34898"/>
                </a:lnTo>
                <a:lnTo>
                  <a:pt x="16739" y="16733"/>
                </a:lnTo>
                <a:lnTo>
                  <a:pt x="34905" y="4489"/>
                </a:lnTo>
                <a:lnTo>
                  <a:pt x="57150" y="0"/>
                </a:lnTo>
                <a:lnTo>
                  <a:pt x="9753600" y="0"/>
                </a:lnTo>
                <a:lnTo>
                  <a:pt x="9775851" y="4489"/>
                </a:lnTo>
                <a:lnTo>
                  <a:pt x="9794016" y="16733"/>
                </a:lnTo>
                <a:lnTo>
                  <a:pt x="9806260" y="34898"/>
                </a:lnTo>
                <a:lnTo>
                  <a:pt x="9810750" y="57150"/>
                </a:lnTo>
                <a:lnTo>
                  <a:pt x="9810750" y="685800"/>
                </a:lnTo>
                <a:lnTo>
                  <a:pt x="9806260" y="708051"/>
                </a:lnTo>
                <a:lnTo>
                  <a:pt x="9794016" y="726216"/>
                </a:lnTo>
                <a:lnTo>
                  <a:pt x="9775851" y="738460"/>
                </a:lnTo>
                <a:lnTo>
                  <a:pt x="9753600" y="742950"/>
                </a:lnTo>
                <a:close/>
              </a:path>
            </a:pathLst>
          </a:custGeom>
          <a:solidFill>
            <a:srgbClr val="0F2E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6921351" y="3914796"/>
            <a:ext cx="6356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A,</a:t>
            </a:r>
            <a:r>
              <a:rPr dirty="0" sz="25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442053" y="391230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35" b="1">
                <a:solidFill>
                  <a:srgbClr val="49BFCC"/>
                </a:solidFill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742162" y="4829196"/>
            <a:ext cx="99377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A,</a:t>
            </a:r>
            <a:r>
              <a:rPr dirty="0" sz="25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Tahoma"/>
                <a:cs typeface="Tahoma"/>
              </a:rPr>
              <a:t>B,</a:t>
            </a:r>
            <a:r>
              <a:rPr dirty="0" sz="25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25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442053" y="482670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35" b="1">
                <a:solidFill>
                  <a:srgbClr val="49BFCC"/>
                </a:solidFill>
                <a:latin typeface="Tahoma"/>
                <a:cs typeface="Tahoma"/>
              </a:rPr>
              <a:t>4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6268700" y="4648199"/>
            <a:ext cx="990600" cy="990600"/>
            <a:chOff x="16268700" y="4648199"/>
            <a:chExt cx="990600" cy="990600"/>
          </a:xfrm>
        </p:grpSpPr>
        <p:sp>
          <p:nvSpPr>
            <p:cNvPr id="34" name="object 34"/>
            <p:cNvSpPr/>
            <p:nvPr/>
          </p:nvSpPr>
          <p:spPr>
            <a:xfrm>
              <a:off x="16306800" y="46862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0455" y="912039"/>
                  </a:lnTo>
                  <a:lnTo>
                    <a:pt x="365060" y="905110"/>
                  </a:lnTo>
                  <a:lnTo>
                    <a:pt x="321245" y="893844"/>
                  </a:lnTo>
                  <a:lnTo>
                    <a:pt x="279240" y="878469"/>
                  </a:lnTo>
                  <a:lnTo>
                    <a:pt x="239274" y="859216"/>
                  </a:lnTo>
                  <a:lnTo>
                    <a:pt x="201578" y="836315"/>
                  </a:lnTo>
                  <a:lnTo>
                    <a:pt x="166381" y="809995"/>
                  </a:lnTo>
                  <a:lnTo>
                    <a:pt x="133913" y="780486"/>
                  </a:lnTo>
                  <a:lnTo>
                    <a:pt x="104404" y="748018"/>
                  </a:lnTo>
                  <a:lnTo>
                    <a:pt x="78084" y="712821"/>
                  </a:lnTo>
                  <a:lnTo>
                    <a:pt x="55183" y="675125"/>
                  </a:lnTo>
                  <a:lnTo>
                    <a:pt x="35930" y="635159"/>
                  </a:lnTo>
                  <a:lnTo>
                    <a:pt x="20555" y="593154"/>
                  </a:lnTo>
                  <a:lnTo>
                    <a:pt x="9289" y="549339"/>
                  </a:lnTo>
                  <a:lnTo>
                    <a:pt x="2360" y="503944"/>
                  </a:lnTo>
                  <a:lnTo>
                    <a:pt x="0" y="457199"/>
                  </a:lnTo>
                  <a:lnTo>
                    <a:pt x="2360" y="410455"/>
                  </a:lnTo>
                  <a:lnTo>
                    <a:pt x="9289" y="365060"/>
                  </a:lnTo>
                  <a:lnTo>
                    <a:pt x="20555" y="321245"/>
                  </a:lnTo>
                  <a:lnTo>
                    <a:pt x="35930" y="279240"/>
                  </a:lnTo>
                  <a:lnTo>
                    <a:pt x="55183" y="239274"/>
                  </a:lnTo>
                  <a:lnTo>
                    <a:pt x="78084" y="201578"/>
                  </a:lnTo>
                  <a:lnTo>
                    <a:pt x="104404" y="166381"/>
                  </a:lnTo>
                  <a:lnTo>
                    <a:pt x="133913" y="133913"/>
                  </a:lnTo>
                  <a:lnTo>
                    <a:pt x="166381" y="104404"/>
                  </a:lnTo>
                  <a:lnTo>
                    <a:pt x="201578" y="78084"/>
                  </a:lnTo>
                  <a:lnTo>
                    <a:pt x="239274" y="55183"/>
                  </a:lnTo>
                  <a:lnTo>
                    <a:pt x="279240" y="35930"/>
                  </a:lnTo>
                  <a:lnTo>
                    <a:pt x="321245" y="20555"/>
                  </a:lnTo>
                  <a:lnTo>
                    <a:pt x="365060" y="9289"/>
                  </a:lnTo>
                  <a:lnTo>
                    <a:pt x="410455" y="2360"/>
                  </a:lnTo>
                  <a:lnTo>
                    <a:pt x="457199" y="0"/>
                  </a:lnTo>
                  <a:lnTo>
                    <a:pt x="503944" y="2360"/>
                  </a:lnTo>
                  <a:lnTo>
                    <a:pt x="549339" y="9289"/>
                  </a:lnTo>
                  <a:lnTo>
                    <a:pt x="593154" y="20555"/>
                  </a:lnTo>
                  <a:lnTo>
                    <a:pt x="635159" y="35930"/>
                  </a:lnTo>
                  <a:lnTo>
                    <a:pt x="675125" y="55183"/>
                  </a:lnTo>
                  <a:lnTo>
                    <a:pt x="712821" y="78084"/>
                  </a:lnTo>
                  <a:lnTo>
                    <a:pt x="748018" y="104404"/>
                  </a:lnTo>
                  <a:lnTo>
                    <a:pt x="780486" y="133913"/>
                  </a:lnTo>
                  <a:lnTo>
                    <a:pt x="809995" y="166381"/>
                  </a:lnTo>
                  <a:lnTo>
                    <a:pt x="836315" y="201578"/>
                  </a:lnTo>
                  <a:lnTo>
                    <a:pt x="859216" y="239274"/>
                  </a:lnTo>
                  <a:lnTo>
                    <a:pt x="878469" y="279240"/>
                  </a:lnTo>
                  <a:lnTo>
                    <a:pt x="893844" y="321245"/>
                  </a:lnTo>
                  <a:lnTo>
                    <a:pt x="905110" y="365060"/>
                  </a:lnTo>
                  <a:lnTo>
                    <a:pt x="912039" y="410455"/>
                  </a:lnTo>
                  <a:lnTo>
                    <a:pt x="914399" y="457199"/>
                  </a:lnTo>
                  <a:lnTo>
                    <a:pt x="912039" y="503944"/>
                  </a:lnTo>
                  <a:lnTo>
                    <a:pt x="905110" y="549339"/>
                  </a:lnTo>
                  <a:lnTo>
                    <a:pt x="893844" y="593154"/>
                  </a:lnTo>
                  <a:lnTo>
                    <a:pt x="878469" y="635159"/>
                  </a:lnTo>
                  <a:lnTo>
                    <a:pt x="859216" y="675125"/>
                  </a:lnTo>
                  <a:lnTo>
                    <a:pt x="836315" y="712821"/>
                  </a:lnTo>
                  <a:lnTo>
                    <a:pt x="809995" y="748018"/>
                  </a:lnTo>
                  <a:lnTo>
                    <a:pt x="780486" y="780486"/>
                  </a:lnTo>
                  <a:lnTo>
                    <a:pt x="748018" y="809995"/>
                  </a:lnTo>
                  <a:lnTo>
                    <a:pt x="712821" y="836315"/>
                  </a:lnTo>
                  <a:lnTo>
                    <a:pt x="675125" y="859216"/>
                  </a:lnTo>
                  <a:lnTo>
                    <a:pt x="635159" y="878469"/>
                  </a:lnTo>
                  <a:lnTo>
                    <a:pt x="593154" y="893844"/>
                  </a:lnTo>
                  <a:lnTo>
                    <a:pt x="549339" y="905110"/>
                  </a:lnTo>
                  <a:lnTo>
                    <a:pt x="503944" y="912039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25B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6306800" y="46862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503946"/>
                  </a:lnTo>
                  <a:lnTo>
                    <a:pt x="9289" y="549341"/>
                  </a:lnTo>
                  <a:lnTo>
                    <a:pt x="20556" y="593157"/>
                  </a:lnTo>
                  <a:lnTo>
                    <a:pt x="35931" y="635162"/>
                  </a:lnTo>
                  <a:lnTo>
                    <a:pt x="55184" y="675127"/>
                  </a:lnTo>
                  <a:lnTo>
                    <a:pt x="78085" y="712823"/>
                  </a:lnTo>
                  <a:lnTo>
                    <a:pt x="104405" y="748019"/>
                  </a:lnTo>
                  <a:lnTo>
                    <a:pt x="133914" y="780486"/>
                  </a:lnTo>
                  <a:lnTo>
                    <a:pt x="166381" y="809994"/>
                  </a:lnTo>
                  <a:lnTo>
                    <a:pt x="201577" y="836314"/>
                  </a:lnTo>
                  <a:lnTo>
                    <a:pt x="239273" y="859215"/>
                  </a:lnTo>
                  <a:lnTo>
                    <a:pt x="279238" y="878468"/>
                  </a:lnTo>
                  <a:lnTo>
                    <a:pt x="321243" y="893843"/>
                  </a:lnTo>
                  <a:lnTo>
                    <a:pt x="365058" y="905110"/>
                  </a:lnTo>
                  <a:lnTo>
                    <a:pt x="410454" y="912039"/>
                  </a:lnTo>
                  <a:lnTo>
                    <a:pt x="457200" y="914399"/>
                  </a:lnTo>
                  <a:lnTo>
                    <a:pt x="503946" y="912039"/>
                  </a:lnTo>
                  <a:lnTo>
                    <a:pt x="549342" y="905110"/>
                  </a:lnTo>
                  <a:lnTo>
                    <a:pt x="593157" y="893843"/>
                  </a:lnTo>
                  <a:lnTo>
                    <a:pt x="635162" y="878468"/>
                  </a:lnTo>
                  <a:lnTo>
                    <a:pt x="675127" y="859215"/>
                  </a:lnTo>
                  <a:lnTo>
                    <a:pt x="712823" y="836313"/>
                  </a:lnTo>
                  <a:lnTo>
                    <a:pt x="748019" y="809994"/>
                  </a:lnTo>
                  <a:lnTo>
                    <a:pt x="780486" y="780485"/>
                  </a:lnTo>
                  <a:lnTo>
                    <a:pt x="809994" y="748018"/>
                  </a:lnTo>
                  <a:lnTo>
                    <a:pt x="836314" y="712822"/>
                  </a:lnTo>
                  <a:lnTo>
                    <a:pt x="859215" y="675126"/>
                  </a:lnTo>
                  <a:lnTo>
                    <a:pt x="878468" y="635161"/>
                  </a:lnTo>
                  <a:lnTo>
                    <a:pt x="893843" y="593156"/>
                  </a:lnTo>
                  <a:lnTo>
                    <a:pt x="905110" y="549341"/>
                  </a:lnTo>
                  <a:lnTo>
                    <a:pt x="912039" y="503946"/>
                  </a:lnTo>
                  <a:lnTo>
                    <a:pt x="914400" y="457200"/>
                  </a:lnTo>
                  <a:lnTo>
                    <a:pt x="912039" y="410453"/>
                  </a:lnTo>
                  <a:lnTo>
                    <a:pt x="905110" y="365058"/>
                  </a:lnTo>
                  <a:lnTo>
                    <a:pt x="893843" y="321243"/>
                  </a:lnTo>
                  <a:lnTo>
                    <a:pt x="878468" y="279237"/>
                  </a:lnTo>
                  <a:lnTo>
                    <a:pt x="859215" y="239272"/>
                  </a:lnTo>
                  <a:lnTo>
                    <a:pt x="836314" y="201577"/>
                  </a:lnTo>
                  <a:lnTo>
                    <a:pt x="809994" y="166380"/>
                  </a:lnTo>
                  <a:lnTo>
                    <a:pt x="780486" y="133913"/>
                  </a:lnTo>
                  <a:lnTo>
                    <a:pt x="748019" y="104405"/>
                  </a:lnTo>
                  <a:lnTo>
                    <a:pt x="712822" y="78085"/>
                  </a:lnTo>
                  <a:lnTo>
                    <a:pt x="675127" y="55184"/>
                  </a:lnTo>
                  <a:lnTo>
                    <a:pt x="635162" y="35931"/>
                  </a:lnTo>
                  <a:lnTo>
                    <a:pt x="593157" y="20556"/>
                  </a:lnTo>
                  <a:lnTo>
                    <a:pt x="549341" y="9289"/>
                  </a:lnTo>
                  <a:lnTo>
                    <a:pt x="503946" y="2360"/>
                  </a:lnTo>
                  <a:lnTo>
                    <a:pt x="457200" y="0"/>
                  </a:lnTo>
                  <a:lnTo>
                    <a:pt x="410454" y="2360"/>
                  </a:lnTo>
                  <a:lnTo>
                    <a:pt x="365058" y="9289"/>
                  </a:lnTo>
                  <a:lnTo>
                    <a:pt x="321243" y="20556"/>
                  </a:lnTo>
                  <a:lnTo>
                    <a:pt x="279238" y="35931"/>
                  </a:lnTo>
                  <a:lnTo>
                    <a:pt x="239272" y="55184"/>
                  </a:lnTo>
                  <a:lnTo>
                    <a:pt x="201577" y="78085"/>
                  </a:lnTo>
                  <a:lnTo>
                    <a:pt x="166381" y="104405"/>
                  </a:lnTo>
                  <a:lnTo>
                    <a:pt x="133913" y="133913"/>
                  </a:lnTo>
                  <a:lnTo>
                    <a:pt x="104405" y="166380"/>
                  </a:lnTo>
                  <a:lnTo>
                    <a:pt x="78085" y="201577"/>
                  </a:lnTo>
                  <a:lnTo>
                    <a:pt x="55184" y="239272"/>
                  </a:lnTo>
                  <a:lnTo>
                    <a:pt x="35931" y="279238"/>
                  </a:lnTo>
                  <a:lnTo>
                    <a:pt x="20556" y="321243"/>
                  </a:lnTo>
                  <a:lnTo>
                    <a:pt x="9289" y="365058"/>
                  </a:lnTo>
                  <a:lnTo>
                    <a:pt x="2360" y="410453"/>
                  </a:lnTo>
                  <a:lnTo>
                    <a:pt x="0" y="4572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6608425" y="4870481"/>
            <a:ext cx="31115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 b="1">
                <a:solidFill>
                  <a:srgbClr val="FFFFFF"/>
                </a:solidFill>
                <a:latin typeface="Tahoma"/>
                <a:cs typeface="Tahoma"/>
              </a:rPr>
              <a:t>C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476102" y="593981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6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1525245" y="5143515"/>
            <a:ext cx="3714750" cy="2095500"/>
          </a:xfrm>
          <a:custGeom>
            <a:avLst/>
            <a:gdLst/>
            <a:ahLst/>
            <a:cxnLst/>
            <a:rect l="l" t="t" r="r" b="b"/>
            <a:pathLst>
              <a:path w="3714750" h="2095500">
                <a:moveTo>
                  <a:pt x="0" y="0"/>
                </a:moveTo>
                <a:lnTo>
                  <a:pt x="3714751" y="209550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11029950" y="4648199"/>
            <a:ext cx="990600" cy="990600"/>
            <a:chOff x="11029950" y="4648199"/>
            <a:chExt cx="990600" cy="990600"/>
          </a:xfrm>
        </p:grpSpPr>
        <p:sp>
          <p:nvSpPr>
            <p:cNvPr id="38" name="object 38"/>
            <p:cNvSpPr/>
            <p:nvPr/>
          </p:nvSpPr>
          <p:spPr>
            <a:xfrm>
              <a:off x="11068049" y="46862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0455" y="912039"/>
                  </a:lnTo>
                  <a:lnTo>
                    <a:pt x="365060" y="905110"/>
                  </a:lnTo>
                  <a:lnTo>
                    <a:pt x="321245" y="893844"/>
                  </a:lnTo>
                  <a:lnTo>
                    <a:pt x="279240" y="878469"/>
                  </a:lnTo>
                  <a:lnTo>
                    <a:pt x="239274" y="859216"/>
                  </a:lnTo>
                  <a:lnTo>
                    <a:pt x="201578" y="836315"/>
                  </a:lnTo>
                  <a:lnTo>
                    <a:pt x="166381" y="809995"/>
                  </a:lnTo>
                  <a:lnTo>
                    <a:pt x="133913" y="780486"/>
                  </a:lnTo>
                  <a:lnTo>
                    <a:pt x="104404" y="748018"/>
                  </a:lnTo>
                  <a:lnTo>
                    <a:pt x="78084" y="712821"/>
                  </a:lnTo>
                  <a:lnTo>
                    <a:pt x="55183" y="675125"/>
                  </a:lnTo>
                  <a:lnTo>
                    <a:pt x="35930" y="635159"/>
                  </a:lnTo>
                  <a:lnTo>
                    <a:pt x="20555" y="593154"/>
                  </a:lnTo>
                  <a:lnTo>
                    <a:pt x="9289" y="549339"/>
                  </a:lnTo>
                  <a:lnTo>
                    <a:pt x="2360" y="503944"/>
                  </a:lnTo>
                  <a:lnTo>
                    <a:pt x="0" y="457199"/>
                  </a:lnTo>
                  <a:lnTo>
                    <a:pt x="2360" y="410455"/>
                  </a:lnTo>
                  <a:lnTo>
                    <a:pt x="9289" y="365060"/>
                  </a:lnTo>
                  <a:lnTo>
                    <a:pt x="20555" y="321245"/>
                  </a:lnTo>
                  <a:lnTo>
                    <a:pt x="35930" y="279240"/>
                  </a:lnTo>
                  <a:lnTo>
                    <a:pt x="55183" y="239274"/>
                  </a:lnTo>
                  <a:lnTo>
                    <a:pt x="78084" y="201578"/>
                  </a:lnTo>
                  <a:lnTo>
                    <a:pt x="104404" y="166381"/>
                  </a:lnTo>
                  <a:lnTo>
                    <a:pt x="133913" y="133913"/>
                  </a:lnTo>
                  <a:lnTo>
                    <a:pt x="166381" y="104404"/>
                  </a:lnTo>
                  <a:lnTo>
                    <a:pt x="201578" y="78084"/>
                  </a:lnTo>
                  <a:lnTo>
                    <a:pt x="239274" y="55183"/>
                  </a:lnTo>
                  <a:lnTo>
                    <a:pt x="279240" y="35930"/>
                  </a:lnTo>
                  <a:lnTo>
                    <a:pt x="321245" y="20555"/>
                  </a:lnTo>
                  <a:lnTo>
                    <a:pt x="365060" y="9289"/>
                  </a:lnTo>
                  <a:lnTo>
                    <a:pt x="410455" y="2360"/>
                  </a:lnTo>
                  <a:lnTo>
                    <a:pt x="457199" y="0"/>
                  </a:lnTo>
                  <a:lnTo>
                    <a:pt x="503944" y="2360"/>
                  </a:lnTo>
                  <a:lnTo>
                    <a:pt x="549339" y="9289"/>
                  </a:lnTo>
                  <a:lnTo>
                    <a:pt x="593154" y="20555"/>
                  </a:lnTo>
                  <a:lnTo>
                    <a:pt x="635159" y="35930"/>
                  </a:lnTo>
                  <a:lnTo>
                    <a:pt x="675125" y="55183"/>
                  </a:lnTo>
                  <a:lnTo>
                    <a:pt x="712821" y="78084"/>
                  </a:lnTo>
                  <a:lnTo>
                    <a:pt x="748018" y="104404"/>
                  </a:lnTo>
                  <a:lnTo>
                    <a:pt x="780486" y="133913"/>
                  </a:lnTo>
                  <a:lnTo>
                    <a:pt x="809995" y="166381"/>
                  </a:lnTo>
                  <a:lnTo>
                    <a:pt x="836315" y="201578"/>
                  </a:lnTo>
                  <a:lnTo>
                    <a:pt x="859216" y="239274"/>
                  </a:lnTo>
                  <a:lnTo>
                    <a:pt x="878469" y="279240"/>
                  </a:lnTo>
                  <a:lnTo>
                    <a:pt x="893844" y="321245"/>
                  </a:lnTo>
                  <a:lnTo>
                    <a:pt x="905110" y="365060"/>
                  </a:lnTo>
                  <a:lnTo>
                    <a:pt x="912039" y="410455"/>
                  </a:lnTo>
                  <a:lnTo>
                    <a:pt x="914399" y="457199"/>
                  </a:lnTo>
                  <a:lnTo>
                    <a:pt x="912039" y="503944"/>
                  </a:lnTo>
                  <a:lnTo>
                    <a:pt x="905110" y="549339"/>
                  </a:lnTo>
                  <a:lnTo>
                    <a:pt x="893844" y="593154"/>
                  </a:lnTo>
                  <a:lnTo>
                    <a:pt x="878469" y="635159"/>
                  </a:lnTo>
                  <a:lnTo>
                    <a:pt x="859216" y="675125"/>
                  </a:lnTo>
                  <a:lnTo>
                    <a:pt x="836315" y="712821"/>
                  </a:lnTo>
                  <a:lnTo>
                    <a:pt x="809995" y="748018"/>
                  </a:lnTo>
                  <a:lnTo>
                    <a:pt x="780486" y="780486"/>
                  </a:lnTo>
                  <a:lnTo>
                    <a:pt x="748018" y="809995"/>
                  </a:lnTo>
                  <a:lnTo>
                    <a:pt x="712821" y="836315"/>
                  </a:lnTo>
                  <a:lnTo>
                    <a:pt x="675125" y="859216"/>
                  </a:lnTo>
                  <a:lnTo>
                    <a:pt x="635159" y="878469"/>
                  </a:lnTo>
                  <a:lnTo>
                    <a:pt x="593154" y="893844"/>
                  </a:lnTo>
                  <a:lnTo>
                    <a:pt x="549339" y="905110"/>
                  </a:lnTo>
                  <a:lnTo>
                    <a:pt x="503944" y="912039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25B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11068050" y="468629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503946"/>
                  </a:lnTo>
                  <a:lnTo>
                    <a:pt x="9289" y="549341"/>
                  </a:lnTo>
                  <a:lnTo>
                    <a:pt x="20556" y="593157"/>
                  </a:lnTo>
                  <a:lnTo>
                    <a:pt x="35931" y="635162"/>
                  </a:lnTo>
                  <a:lnTo>
                    <a:pt x="55184" y="675127"/>
                  </a:lnTo>
                  <a:lnTo>
                    <a:pt x="78085" y="712823"/>
                  </a:lnTo>
                  <a:lnTo>
                    <a:pt x="104405" y="748019"/>
                  </a:lnTo>
                  <a:lnTo>
                    <a:pt x="133914" y="780486"/>
                  </a:lnTo>
                  <a:lnTo>
                    <a:pt x="166381" y="809994"/>
                  </a:lnTo>
                  <a:lnTo>
                    <a:pt x="201577" y="836314"/>
                  </a:lnTo>
                  <a:lnTo>
                    <a:pt x="239273" y="859215"/>
                  </a:lnTo>
                  <a:lnTo>
                    <a:pt x="279238" y="878468"/>
                  </a:lnTo>
                  <a:lnTo>
                    <a:pt x="321243" y="893843"/>
                  </a:lnTo>
                  <a:lnTo>
                    <a:pt x="365058" y="905110"/>
                  </a:lnTo>
                  <a:lnTo>
                    <a:pt x="410454" y="912039"/>
                  </a:lnTo>
                  <a:lnTo>
                    <a:pt x="457200" y="914399"/>
                  </a:lnTo>
                  <a:lnTo>
                    <a:pt x="503946" y="912039"/>
                  </a:lnTo>
                  <a:lnTo>
                    <a:pt x="549341" y="905110"/>
                  </a:lnTo>
                  <a:lnTo>
                    <a:pt x="593157" y="893843"/>
                  </a:lnTo>
                  <a:lnTo>
                    <a:pt x="635162" y="878468"/>
                  </a:lnTo>
                  <a:lnTo>
                    <a:pt x="675127" y="859215"/>
                  </a:lnTo>
                  <a:lnTo>
                    <a:pt x="712823" y="836314"/>
                  </a:lnTo>
                  <a:lnTo>
                    <a:pt x="748019" y="809994"/>
                  </a:lnTo>
                  <a:lnTo>
                    <a:pt x="780486" y="780485"/>
                  </a:lnTo>
                  <a:lnTo>
                    <a:pt x="809994" y="748018"/>
                  </a:lnTo>
                  <a:lnTo>
                    <a:pt x="836314" y="712822"/>
                  </a:lnTo>
                  <a:lnTo>
                    <a:pt x="859215" y="675126"/>
                  </a:lnTo>
                  <a:lnTo>
                    <a:pt x="878468" y="635161"/>
                  </a:lnTo>
                  <a:lnTo>
                    <a:pt x="893843" y="593156"/>
                  </a:lnTo>
                  <a:lnTo>
                    <a:pt x="905110" y="549341"/>
                  </a:lnTo>
                  <a:lnTo>
                    <a:pt x="912039" y="503946"/>
                  </a:lnTo>
                  <a:lnTo>
                    <a:pt x="914400" y="457200"/>
                  </a:lnTo>
                  <a:lnTo>
                    <a:pt x="912039" y="410453"/>
                  </a:lnTo>
                  <a:lnTo>
                    <a:pt x="905110" y="365058"/>
                  </a:lnTo>
                  <a:lnTo>
                    <a:pt x="893843" y="321243"/>
                  </a:lnTo>
                  <a:lnTo>
                    <a:pt x="878468" y="279237"/>
                  </a:lnTo>
                  <a:lnTo>
                    <a:pt x="859215" y="239272"/>
                  </a:lnTo>
                  <a:lnTo>
                    <a:pt x="836314" y="201577"/>
                  </a:lnTo>
                  <a:lnTo>
                    <a:pt x="809994" y="166380"/>
                  </a:lnTo>
                  <a:lnTo>
                    <a:pt x="780486" y="133913"/>
                  </a:lnTo>
                  <a:lnTo>
                    <a:pt x="748019" y="104405"/>
                  </a:lnTo>
                  <a:lnTo>
                    <a:pt x="712822" y="78085"/>
                  </a:lnTo>
                  <a:lnTo>
                    <a:pt x="675127" y="55184"/>
                  </a:lnTo>
                  <a:lnTo>
                    <a:pt x="635162" y="35931"/>
                  </a:lnTo>
                  <a:lnTo>
                    <a:pt x="593157" y="20556"/>
                  </a:lnTo>
                  <a:lnTo>
                    <a:pt x="549341" y="9289"/>
                  </a:lnTo>
                  <a:lnTo>
                    <a:pt x="503946" y="2360"/>
                  </a:lnTo>
                  <a:lnTo>
                    <a:pt x="457200" y="0"/>
                  </a:lnTo>
                  <a:lnTo>
                    <a:pt x="410454" y="2360"/>
                  </a:lnTo>
                  <a:lnTo>
                    <a:pt x="365058" y="9289"/>
                  </a:lnTo>
                  <a:lnTo>
                    <a:pt x="321243" y="20556"/>
                  </a:lnTo>
                  <a:lnTo>
                    <a:pt x="279238" y="35931"/>
                  </a:lnTo>
                  <a:lnTo>
                    <a:pt x="239272" y="55184"/>
                  </a:lnTo>
                  <a:lnTo>
                    <a:pt x="201577" y="78085"/>
                  </a:lnTo>
                  <a:lnTo>
                    <a:pt x="166380" y="104405"/>
                  </a:lnTo>
                  <a:lnTo>
                    <a:pt x="133913" y="133913"/>
                  </a:lnTo>
                  <a:lnTo>
                    <a:pt x="104405" y="166381"/>
                  </a:lnTo>
                  <a:lnTo>
                    <a:pt x="78085" y="201577"/>
                  </a:lnTo>
                  <a:lnTo>
                    <a:pt x="55184" y="239272"/>
                  </a:lnTo>
                  <a:lnTo>
                    <a:pt x="35931" y="279238"/>
                  </a:lnTo>
                  <a:lnTo>
                    <a:pt x="20556" y="321243"/>
                  </a:lnTo>
                  <a:lnTo>
                    <a:pt x="9289" y="365058"/>
                  </a:lnTo>
                  <a:lnTo>
                    <a:pt x="2360" y="410453"/>
                  </a:lnTo>
                  <a:lnTo>
                    <a:pt x="0" y="4572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11348243" y="4870481"/>
            <a:ext cx="354330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 b="1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66750" y="5581649"/>
            <a:ext cx="9810750" cy="742950"/>
          </a:xfrm>
          <a:custGeom>
            <a:avLst/>
            <a:gdLst/>
            <a:ahLst/>
            <a:cxnLst/>
            <a:rect l="l" t="t" r="r" b="b"/>
            <a:pathLst>
              <a:path w="9810750" h="742950">
                <a:moveTo>
                  <a:pt x="9753600" y="742950"/>
                </a:moveTo>
                <a:lnTo>
                  <a:pt x="57150" y="742950"/>
                </a:lnTo>
                <a:lnTo>
                  <a:pt x="34905" y="738460"/>
                </a:lnTo>
                <a:lnTo>
                  <a:pt x="16739" y="726216"/>
                </a:lnTo>
                <a:lnTo>
                  <a:pt x="4491" y="708051"/>
                </a:lnTo>
                <a:lnTo>
                  <a:pt x="0" y="685800"/>
                </a:lnTo>
                <a:lnTo>
                  <a:pt x="0" y="57150"/>
                </a:lnTo>
                <a:lnTo>
                  <a:pt x="4491" y="34898"/>
                </a:lnTo>
                <a:lnTo>
                  <a:pt x="16739" y="16733"/>
                </a:lnTo>
                <a:lnTo>
                  <a:pt x="34905" y="4489"/>
                </a:lnTo>
                <a:lnTo>
                  <a:pt x="57150" y="0"/>
                </a:lnTo>
                <a:lnTo>
                  <a:pt x="9753600" y="0"/>
                </a:lnTo>
                <a:lnTo>
                  <a:pt x="9775851" y="4489"/>
                </a:lnTo>
                <a:lnTo>
                  <a:pt x="9794016" y="16733"/>
                </a:lnTo>
                <a:lnTo>
                  <a:pt x="9806260" y="34898"/>
                </a:lnTo>
                <a:lnTo>
                  <a:pt x="9810750" y="57150"/>
                </a:lnTo>
                <a:lnTo>
                  <a:pt x="9810750" y="685800"/>
                </a:lnTo>
                <a:lnTo>
                  <a:pt x="9806260" y="708051"/>
                </a:lnTo>
                <a:lnTo>
                  <a:pt x="9794016" y="726216"/>
                </a:lnTo>
                <a:lnTo>
                  <a:pt x="9775851" y="738460"/>
                </a:lnTo>
                <a:lnTo>
                  <a:pt x="9753600" y="742950"/>
                </a:lnTo>
                <a:close/>
              </a:path>
            </a:pathLst>
          </a:custGeom>
          <a:solidFill>
            <a:srgbClr val="0F2E4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559401" y="5743596"/>
            <a:ext cx="13595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A,</a:t>
            </a:r>
            <a:r>
              <a:rPr dirty="0" sz="2500" spc="-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Tahoma"/>
                <a:cs typeface="Tahoma"/>
              </a:rPr>
              <a:t>B,</a:t>
            </a:r>
            <a:r>
              <a:rPr dirty="0" sz="25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C,</a:t>
            </a:r>
            <a:r>
              <a:rPr dirty="0" sz="25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D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442053" y="574110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35" b="1">
                <a:solidFill>
                  <a:srgbClr val="49BFCC"/>
                </a:solidFill>
                <a:latin typeface="Tahoma"/>
                <a:cs typeface="Tahoma"/>
              </a:rPr>
              <a:t>8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343362" y="597791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266771" y="626366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391076" y="6657995"/>
            <a:ext cx="169608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A,</a:t>
            </a:r>
            <a:r>
              <a:rPr dirty="0" sz="25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Tahoma"/>
                <a:cs typeface="Tahoma"/>
              </a:rPr>
              <a:t>B,</a:t>
            </a:r>
            <a:r>
              <a:rPr dirty="0" sz="25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C,</a:t>
            </a:r>
            <a:r>
              <a:rPr dirty="0" sz="2500" spc="-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D,</a:t>
            </a:r>
            <a:r>
              <a:rPr dirty="0" sz="2500" spc="-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50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9324181" y="6655508"/>
            <a:ext cx="4972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5" b="1">
                <a:solidFill>
                  <a:srgbClr val="49BFCC"/>
                </a:solidFill>
                <a:latin typeface="Tahoma"/>
                <a:cs typeface="Tahoma"/>
              </a:rPr>
              <a:t>10</a:t>
            </a:r>
            <a:endParaRPr sz="32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077700" y="6743700"/>
            <a:ext cx="990600" cy="990600"/>
            <a:chOff x="12077700" y="6743700"/>
            <a:chExt cx="990600" cy="990600"/>
          </a:xfrm>
        </p:grpSpPr>
        <p:sp>
          <p:nvSpPr>
            <p:cNvPr id="46" name="object 46"/>
            <p:cNvSpPr/>
            <p:nvPr/>
          </p:nvSpPr>
          <p:spPr>
            <a:xfrm>
              <a:off x="12115800" y="678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0455" y="912039"/>
                  </a:lnTo>
                  <a:lnTo>
                    <a:pt x="365060" y="905110"/>
                  </a:lnTo>
                  <a:lnTo>
                    <a:pt x="321245" y="893844"/>
                  </a:lnTo>
                  <a:lnTo>
                    <a:pt x="279240" y="878469"/>
                  </a:lnTo>
                  <a:lnTo>
                    <a:pt x="239274" y="859216"/>
                  </a:lnTo>
                  <a:lnTo>
                    <a:pt x="201578" y="836315"/>
                  </a:lnTo>
                  <a:lnTo>
                    <a:pt x="166381" y="809995"/>
                  </a:lnTo>
                  <a:lnTo>
                    <a:pt x="133913" y="780486"/>
                  </a:lnTo>
                  <a:lnTo>
                    <a:pt x="104404" y="748018"/>
                  </a:lnTo>
                  <a:lnTo>
                    <a:pt x="78084" y="712821"/>
                  </a:lnTo>
                  <a:lnTo>
                    <a:pt x="55183" y="675125"/>
                  </a:lnTo>
                  <a:lnTo>
                    <a:pt x="35930" y="635159"/>
                  </a:lnTo>
                  <a:lnTo>
                    <a:pt x="20555" y="593154"/>
                  </a:lnTo>
                  <a:lnTo>
                    <a:pt x="9289" y="549339"/>
                  </a:lnTo>
                  <a:lnTo>
                    <a:pt x="2360" y="503944"/>
                  </a:lnTo>
                  <a:lnTo>
                    <a:pt x="0" y="457199"/>
                  </a:lnTo>
                  <a:lnTo>
                    <a:pt x="2360" y="410455"/>
                  </a:lnTo>
                  <a:lnTo>
                    <a:pt x="9289" y="365060"/>
                  </a:lnTo>
                  <a:lnTo>
                    <a:pt x="20555" y="321245"/>
                  </a:lnTo>
                  <a:lnTo>
                    <a:pt x="35930" y="279240"/>
                  </a:lnTo>
                  <a:lnTo>
                    <a:pt x="55183" y="239274"/>
                  </a:lnTo>
                  <a:lnTo>
                    <a:pt x="78084" y="201578"/>
                  </a:lnTo>
                  <a:lnTo>
                    <a:pt x="104404" y="166381"/>
                  </a:lnTo>
                  <a:lnTo>
                    <a:pt x="133913" y="133913"/>
                  </a:lnTo>
                  <a:lnTo>
                    <a:pt x="166381" y="104404"/>
                  </a:lnTo>
                  <a:lnTo>
                    <a:pt x="201578" y="78084"/>
                  </a:lnTo>
                  <a:lnTo>
                    <a:pt x="239274" y="55183"/>
                  </a:lnTo>
                  <a:lnTo>
                    <a:pt x="279240" y="35930"/>
                  </a:lnTo>
                  <a:lnTo>
                    <a:pt x="321245" y="20555"/>
                  </a:lnTo>
                  <a:lnTo>
                    <a:pt x="365060" y="9289"/>
                  </a:lnTo>
                  <a:lnTo>
                    <a:pt x="410455" y="2360"/>
                  </a:lnTo>
                  <a:lnTo>
                    <a:pt x="457199" y="0"/>
                  </a:lnTo>
                  <a:lnTo>
                    <a:pt x="503944" y="2360"/>
                  </a:lnTo>
                  <a:lnTo>
                    <a:pt x="549339" y="9289"/>
                  </a:lnTo>
                  <a:lnTo>
                    <a:pt x="593154" y="20555"/>
                  </a:lnTo>
                  <a:lnTo>
                    <a:pt x="635159" y="35930"/>
                  </a:lnTo>
                  <a:lnTo>
                    <a:pt x="675125" y="55183"/>
                  </a:lnTo>
                  <a:lnTo>
                    <a:pt x="712821" y="78084"/>
                  </a:lnTo>
                  <a:lnTo>
                    <a:pt x="748018" y="104404"/>
                  </a:lnTo>
                  <a:lnTo>
                    <a:pt x="780486" y="133913"/>
                  </a:lnTo>
                  <a:lnTo>
                    <a:pt x="809995" y="166381"/>
                  </a:lnTo>
                  <a:lnTo>
                    <a:pt x="836315" y="201578"/>
                  </a:lnTo>
                  <a:lnTo>
                    <a:pt x="859216" y="239274"/>
                  </a:lnTo>
                  <a:lnTo>
                    <a:pt x="878469" y="279240"/>
                  </a:lnTo>
                  <a:lnTo>
                    <a:pt x="893844" y="321245"/>
                  </a:lnTo>
                  <a:lnTo>
                    <a:pt x="905110" y="365060"/>
                  </a:lnTo>
                  <a:lnTo>
                    <a:pt x="912039" y="410455"/>
                  </a:lnTo>
                  <a:lnTo>
                    <a:pt x="914399" y="457199"/>
                  </a:lnTo>
                  <a:lnTo>
                    <a:pt x="912039" y="503944"/>
                  </a:lnTo>
                  <a:lnTo>
                    <a:pt x="905110" y="549339"/>
                  </a:lnTo>
                  <a:lnTo>
                    <a:pt x="893844" y="593154"/>
                  </a:lnTo>
                  <a:lnTo>
                    <a:pt x="878469" y="635159"/>
                  </a:lnTo>
                  <a:lnTo>
                    <a:pt x="859216" y="675125"/>
                  </a:lnTo>
                  <a:lnTo>
                    <a:pt x="836315" y="712821"/>
                  </a:lnTo>
                  <a:lnTo>
                    <a:pt x="809995" y="748018"/>
                  </a:lnTo>
                  <a:lnTo>
                    <a:pt x="780486" y="780486"/>
                  </a:lnTo>
                  <a:lnTo>
                    <a:pt x="748018" y="809995"/>
                  </a:lnTo>
                  <a:lnTo>
                    <a:pt x="712821" y="836315"/>
                  </a:lnTo>
                  <a:lnTo>
                    <a:pt x="675125" y="859216"/>
                  </a:lnTo>
                  <a:lnTo>
                    <a:pt x="635159" y="878469"/>
                  </a:lnTo>
                  <a:lnTo>
                    <a:pt x="593154" y="893844"/>
                  </a:lnTo>
                  <a:lnTo>
                    <a:pt x="549339" y="905110"/>
                  </a:lnTo>
                  <a:lnTo>
                    <a:pt x="503944" y="912039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25B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115800" y="678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503946"/>
                  </a:lnTo>
                  <a:lnTo>
                    <a:pt x="9289" y="549341"/>
                  </a:lnTo>
                  <a:lnTo>
                    <a:pt x="20556" y="593157"/>
                  </a:lnTo>
                  <a:lnTo>
                    <a:pt x="35931" y="635162"/>
                  </a:lnTo>
                  <a:lnTo>
                    <a:pt x="55184" y="675127"/>
                  </a:lnTo>
                  <a:lnTo>
                    <a:pt x="78085" y="712823"/>
                  </a:lnTo>
                  <a:lnTo>
                    <a:pt x="104405" y="748019"/>
                  </a:lnTo>
                  <a:lnTo>
                    <a:pt x="133914" y="780486"/>
                  </a:lnTo>
                  <a:lnTo>
                    <a:pt x="166381" y="809994"/>
                  </a:lnTo>
                  <a:lnTo>
                    <a:pt x="201577" y="836314"/>
                  </a:lnTo>
                  <a:lnTo>
                    <a:pt x="239273" y="859215"/>
                  </a:lnTo>
                  <a:lnTo>
                    <a:pt x="279238" y="878468"/>
                  </a:lnTo>
                  <a:lnTo>
                    <a:pt x="321243" y="893843"/>
                  </a:lnTo>
                  <a:lnTo>
                    <a:pt x="365058" y="905110"/>
                  </a:lnTo>
                  <a:lnTo>
                    <a:pt x="410454" y="912039"/>
                  </a:lnTo>
                  <a:lnTo>
                    <a:pt x="457200" y="914399"/>
                  </a:lnTo>
                  <a:lnTo>
                    <a:pt x="503946" y="912039"/>
                  </a:lnTo>
                  <a:lnTo>
                    <a:pt x="549341" y="905110"/>
                  </a:lnTo>
                  <a:lnTo>
                    <a:pt x="593157" y="893843"/>
                  </a:lnTo>
                  <a:lnTo>
                    <a:pt x="635162" y="878468"/>
                  </a:lnTo>
                  <a:lnTo>
                    <a:pt x="675127" y="859215"/>
                  </a:lnTo>
                  <a:lnTo>
                    <a:pt x="712823" y="836313"/>
                  </a:lnTo>
                  <a:lnTo>
                    <a:pt x="748019" y="809994"/>
                  </a:lnTo>
                  <a:lnTo>
                    <a:pt x="780486" y="780485"/>
                  </a:lnTo>
                  <a:lnTo>
                    <a:pt x="809994" y="748018"/>
                  </a:lnTo>
                  <a:lnTo>
                    <a:pt x="836314" y="712822"/>
                  </a:lnTo>
                  <a:lnTo>
                    <a:pt x="859215" y="675126"/>
                  </a:lnTo>
                  <a:lnTo>
                    <a:pt x="878468" y="635161"/>
                  </a:lnTo>
                  <a:lnTo>
                    <a:pt x="893843" y="593156"/>
                  </a:lnTo>
                  <a:lnTo>
                    <a:pt x="905110" y="549341"/>
                  </a:lnTo>
                  <a:lnTo>
                    <a:pt x="912039" y="503946"/>
                  </a:lnTo>
                  <a:lnTo>
                    <a:pt x="914400" y="457200"/>
                  </a:lnTo>
                  <a:lnTo>
                    <a:pt x="912039" y="410453"/>
                  </a:lnTo>
                  <a:lnTo>
                    <a:pt x="905110" y="365058"/>
                  </a:lnTo>
                  <a:lnTo>
                    <a:pt x="893843" y="321243"/>
                  </a:lnTo>
                  <a:lnTo>
                    <a:pt x="878468" y="279237"/>
                  </a:lnTo>
                  <a:lnTo>
                    <a:pt x="859215" y="239272"/>
                  </a:lnTo>
                  <a:lnTo>
                    <a:pt x="836314" y="201577"/>
                  </a:lnTo>
                  <a:lnTo>
                    <a:pt x="809994" y="166380"/>
                  </a:lnTo>
                  <a:lnTo>
                    <a:pt x="780486" y="133913"/>
                  </a:lnTo>
                  <a:lnTo>
                    <a:pt x="748019" y="104405"/>
                  </a:lnTo>
                  <a:lnTo>
                    <a:pt x="712822" y="78085"/>
                  </a:lnTo>
                  <a:lnTo>
                    <a:pt x="675127" y="55184"/>
                  </a:lnTo>
                  <a:lnTo>
                    <a:pt x="635162" y="35931"/>
                  </a:lnTo>
                  <a:lnTo>
                    <a:pt x="593157" y="20556"/>
                  </a:lnTo>
                  <a:lnTo>
                    <a:pt x="549341" y="9289"/>
                  </a:lnTo>
                  <a:lnTo>
                    <a:pt x="503946" y="2360"/>
                  </a:lnTo>
                  <a:lnTo>
                    <a:pt x="457200" y="0"/>
                  </a:lnTo>
                  <a:lnTo>
                    <a:pt x="410454" y="2360"/>
                  </a:lnTo>
                  <a:lnTo>
                    <a:pt x="365058" y="9289"/>
                  </a:lnTo>
                  <a:lnTo>
                    <a:pt x="321243" y="20556"/>
                  </a:lnTo>
                  <a:lnTo>
                    <a:pt x="279238" y="35931"/>
                  </a:lnTo>
                  <a:lnTo>
                    <a:pt x="239272" y="55184"/>
                  </a:lnTo>
                  <a:lnTo>
                    <a:pt x="201577" y="78085"/>
                  </a:lnTo>
                  <a:lnTo>
                    <a:pt x="166380" y="104405"/>
                  </a:lnTo>
                  <a:lnTo>
                    <a:pt x="133913" y="133913"/>
                  </a:lnTo>
                  <a:lnTo>
                    <a:pt x="104405" y="166381"/>
                  </a:lnTo>
                  <a:lnTo>
                    <a:pt x="78085" y="201577"/>
                  </a:lnTo>
                  <a:lnTo>
                    <a:pt x="55184" y="239272"/>
                  </a:lnTo>
                  <a:lnTo>
                    <a:pt x="35931" y="279238"/>
                  </a:lnTo>
                  <a:lnTo>
                    <a:pt x="20556" y="321243"/>
                  </a:lnTo>
                  <a:lnTo>
                    <a:pt x="9289" y="365058"/>
                  </a:lnTo>
                  <a:lnTo>
                    <a:pt x="2360" y="410453"/>
                  </a:lnTo>
                  <a:lnTo>
                    <a:pt x="0" y="4572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2438112" y="6965981"/>
            <a:ext cx="26987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50" b="1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790662" y="7387611"/>
            <a:ext cx="2317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20" b="1">
                <a:solidFill>
                  <a:srgbClr val="FFFFFF"/>
                </a:solidFill>
                <a:latin typeface="Tahoma"/>
                <a:cs typeface="Tahoma"/>
              </a:rPr>
              <a:t>7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4744700" y="6743700"/>
            <a:ext cx="990600" cy="990600"/>
            <a:chOff x="14744700" y="6743700"/>
            <a:chExt cx="990600" cy="990600"/>
          </a:xfrm>
        </p:grpSpPr>
        <p:sp>
          <p:nvSpPr>
            <p:cNvPr id="42" name="object 42"/>
            <p:cNvSpPr/>
            <p:nvPr/>
          </p:nvSpPr>
          <p:spPr>
            <a:xfrm>
              <a:off x="14782800" y="678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199" y="914399"/>
                  </a:moveTo>
                  <a:lnTo>
                    <a:pt x="410455" y="912039"/>
                  </a:lnTo>
                  <a:lnTo>
                    <a:pt x="365060" y="905110"/>
                  </a:lnTo>
                  <a:lnTo>
                    <a:pt x="321245" y="893844"/>
                  </a:lnTo>
                  <a:lnTo>
                    <a:pt x="279240" y="878469"/>
                  </a:lnTo>
                  <a:lnTo>
                    <a:pt x="239274" y="859216"/>
                  </a:lnTo>
                  <a:lnTo>
                    <a:pt x="201578" y="836315"/>
                  </a:lnTo>
                  <a:lnTo>
                    <a:pt x="166381" y="809995"/>
                  </a:lnTo>
                  <a:lnTo>
                    <a:pt x="133913" y="780486"/>
                  </a:lnTo>
                  <a:lnTo>
                    <a:pt x="104404" y="748018"/>
                  </a:lnTo>
                  <a:lnTo>
                    <a:pt x="78084" y="712821"/>
                  </a:lnTo>
                  <a:lnTo>
                    <a:pt x="55183" y="675125"/>
                  </a:lnTo>
                  <a:lnTo>
                    <a:pt x="35930" y="635159"/>
                  </a:lnTo>
                  <a:lnTo>
                    <a:pt x="20555" y="593154"/>
                  </a:lnTo>
                  <a:lnTo>
                    <a:pt x="9289" y="549339"/>
                  </a:lnTo>
                  <a:lnTo>
                    <a:pt x="2360" y="503944"/>
                  </a:lnTo>
                  <a:lnTo>
                    <a:pt x="0" y="457199"/>
                  </a:lnTo>
                  <a:lnTo>
                    <a:pt x="2360" y="410455"/>
                  </a:lnTo>
                  <a:lnTo>
                    <a:pt x="9289" y="365060"/>
                  </a:lnTo>
                  <a:lnTo>
                    <a:pt x="20555" y="321245"/>
                  </a:lnTo>
                  <a:lnTo>
                    <a:pt x="35930" y="279240"/>
                  </a:lnTo>
                  <a:lnTo>
                    <a:pt x="55183" y="239274"/>
                  </a:lnTo>
                  <a:lnTo>
                    <a:pt x="78084" y="201578"/>
                  </a:lnTo>
                  <a:lnTo>
                    <a:pt x="104404" y="166381"/>
                  </a:lnTo>
                  <a:lnTo>
                    <a:pt x="133913" y="133913"/>
                  </a:lnTo>
                  <a:lnTo>
                    <a:pt x="166381" y="104404"/>
                  </a:lnTo>
                  <a:lnTo>
                    <a:pt x="201578" y="78084"/>
                  </a:lnTo>
                  <a:lnTo>
                    <a:pt x="239274" y="55183"/>
                  </a:lnTo>
                  <a:lnTo>
                    <a:pt x="279240" y="35930"/>
                  </a:lnTo>
                  <a:lnTo>
                    <a:pt x="321245" y="20555"/>
                  </a:lnTo>
                  <a:lnTo>
                    <a:pt x="365060" y="9289"/>
                  </a:lnTo>
                  <a:lnTo>
                    <a:pt x="410455" y="2360"/>
                  </a:lnTo>
                  <a:lnTo>
                    <a:pt x="457199" y="0"/>
                  </a:lnTo>
                  <a:lnTo>
                    <a:pt x="503944" y="2360"/>
                  </a:lnTo>
                  <a:lnTo>
                    <a:pt x="549339" y="9289"/>
                  </a:lnTo>
                  <a:lnTo>
                    <a:pt x="593154" y="20555"/>
                  </a:lnTo>
                  <a:lnTo>
                    <a:pt x="635159" y="35930"/>
                  </a:lnTo>
                  <a:lnTo>
                    <a:pt x="675125" y="55183"/>
                  </a:lnTo>
                  <a:lnTo>
                    <a:pt x="712821" y="78084"/>
                  </a:lnTo>
                  <a:lnTo>
                    <a:pt x="748018" y="104404"/>
                  </a:lnTo>
                  <a:lnTo>
                    <a:pt x="780486" y="133913"/>
                  </a:lnTo>
                  <a:lnTo>
                    <a:pt x="809995" y="166381"/>
                  </a:lnTo>
                  <a:lnTo>
                    <a:pt x="836315" y="201578"/>
                  </a:lnTo>
                  <a:lnTo>
                    <a:pt x="859216" y="239274"/>
                  </a:lnTo>
                  <a:lnTo>
                    <a:pt x="878469" y="279240"/>
                  </a:lnTo>
                  <a:lnTo>
                    <a:pt x="893844" y="321245"/>
                  </a:lnTo>
                  <a:lnTo>
                    <a:pt x="905110" y="365060"/>
                  </a:lnTo>
                  <a:lnTo>
                    <a:pt x="912039" y="410455"/>
                  </a:lnTo>
                  <a:lnTo>
                    <a:pt x="914399" y="457199"/>
                  </a:lnTo>
                  <a:lnTo>
                    <a:pt x="912039" y="503944"/>
                  </a:lnTo>
                  <a:lnTo>
                    <a:pt x="905110" y="549339"/>
                  </a:lnTo>
                  <a:lnTo>
                    <a:pt x="893844" y="593154"/>
                  </a:lnTo>
                  <a:lnTo>
                    <a:pt x="878469" y="635159"/>
                  </a:lnTo>
                  <a:lnTo>
                    <a:pt x="859216" y="675125"/>
                  </a:lnTo>
                  <a:lnTo>
                    <a:pt x="836315" y="712821"/>
                  </a:lnTo>
                  <a:lnTo>
                    <a:pt x="809995" y="748018"/>
                  </a:lnTo>
                  <a:lnTo>
                    <a:pt x="780486" y="780486"/>
                  </a:lnTo>
                  <a:lnTo>
                    <a:pt x="748018" y="809995"/>
                  </a:lnTo>
                  <a:lnTo>
                    <a:pt x="712821" y="836315"/>
                  </a:lnTo>
                  <a:lnTo>
                    <a:pt x="675125" y="859216"/>
                  </a:lnTo>
                  <a:lnTo>
                    <a:pt x="635159" y="878469"/>
                  </a:lnTo>
                  <a:lnTo>
                    <a:pt x="593154" y="893844"/>
                  </a:lnTo>
                  <a:lnTo>
                    <a:pt x="549339" y="905110"/>
                  </a:lnTo>
                  <a:lnTo>
                    <a:pt x="503944" y="912039"/>
                  </a:lnTo>
                  <a:lnTo>
                    <a:pt x="457199" y="914399"/>
                  </a:lnTo>
                  <a:close/>
                </a:path>
              </a:pathLst>
            </a:custGeom>
            <a:solidFill>
              <a:srgbClr val="25B9C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4782800" y="678180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503946"/>
                  </a:lnTo>
                  <a:lnTo>
                    <a:pt x="9289" y="549341"/>
                  </a:lnTo>
                  <a:lnTo>
                    <a:pt x="20556" y="593157"/>
                  </a:lnTo>
                  <a:lnTo>
                    <a:pt x="35931" y="635162"/>
                  </a:lnTo>
                  <a:lnTo>
                    <a:pt x="55184" y="675127"/>
                  </a:lnTo>
                  <a:lnTo>
                    <a:pt x="78085" y="712823"/>
                  </a:lnTo>
                  <a:lnTo>
                    <a:pt x="104405" y="748019"/>
                  </a:lnTo>
                  <a:lnTo>
                    <a:pt x="133914" y="780486"/>
                  </a:lnTo>
                  <a:lnTo>
                    <a:pt x="166381" y="809994"/>
                  </a:lnTo>
                  <a:lnTo>
                    <a:pt x="201577" y="836314"/>
                  </a:lnTo>
                  <a:lnTo>
                    <a:pt x="239273" y="859215"/>
                  </a:lnTo>
                  <a:lnTo>
                    <a:pt x="279238" y="878468"/>
                  </a:lnTo>
                  <a:lnTo>
                    <a:pt x="321243" y="893843"/>
                  </a:lnTo>
                  <a:lnTo>
                    <a:pt x="365058" y="905110"/>
                  </a:lnTo>
                  <a:lnTo>
                    <a:pt x="410454" y="912039"/>
                  </a:lnTo>
                  <a:lnTo>
                    <a:pt x="457200" y="914399"/>
                  </a:lnTo>
                  <a:lnTo>
                    <a:pt x="503946" y="912039"/>
                  </a:lnTo>
                  <a:lnTo>
                    <a:pt x="549342" y="905110"/>
                  </a:lnTo>
                  <a:lnTo>
                    <a:pt x="593157" y="893843"/>
                  </a:lnTo>
                  <a:lnTo>
                    <a:pt x="635162" y="878468"/>
                  </a:lnTo>
                  <a:lnTo>
                    <a:pt x="675127" y="859215"/>
                  </a:lnTo>
                  <a:lnTo>
                    <a:pt x="712823" y="836313"/>
                  </a:lnTo>
                  <a:lnTo>
                    <a:pt x="748019" y="809994"/>
                  </a:lnTo>
                  <a:lnTo>
                    <a:pt x="780486" y="780485"/>
                  </a:lnTo>
                  <a:lnTo>
                    <a:pt x="809994" y="748018"/>
                  </a:lnTo>
                  <a:lnTo>
                    <a:pt x="836314" y="712822"/>
                  </a:lnTo>
                  <a:lnTo>
                    <a:pt x="859215" y="675126"/>
                  </a:lnTo>
                  <a:lnTo>
                    <a:pt x="878468" y="635161"/>
                  </a:lnTo>
                  <a:lnTo>
                    <a:pt x="893843" y="593156"/>
                  </a:lnTo>
                  <a:lnTo>
                    <a:pt x="905110" y="549341"/>
                  </a:lnTo>
                  <a:lnTo>
                    <a:pt x="912039" y="503946"/>
                  </a:lnTo>
                  <a:lnTo>
                    <a:pt x="914400" y="457200"/>
                  </a:lnTo>
                  <a:lnTo>
                    <a:pt x="912039" y="410453"/>
                  </a:lnTo>
                  <a:lnTo>
                    <a:pt x="905110" y="365058"/>
                  </a:lnTo>
                  <a:lnTo>
                    <a:pt x="893843" y="321243"/>
                  </a:lnTo>
                  <a:lnTo>
                    <a:pt x="878468" y="279237"/>
                  </a:lnTo>
                  <a:lnTo>
                    <a:pt x="859215" y="239272"/>
                  </a:lnTo>
                  <a:lnTo>
                    <a:pt x="836314" y="201577"/>
                  </a:lnTo>
                  <a:lnTo>
                    <a:pt x="809994" y="166380"/>
                  </a:lnTo>
                  <a:lnTo>
                    <a:pt x="780486" y="133913"/>
                  </a:lnTo>
                  <a:lnTo>
                    <a:pt x="748019" y="104405"/>
                  </a:lnTo>
                  <a:lnTo>
                    <a:pt x="712822" y="78085"/>
                  </a:lnTo>
                  <a:lnTo>
                    <a:pt x="675127" y="55184"/>
                  </a:lnTo>
                  <a:lnTo>
                    <a:pt x="635162" y="35931"/>
                  </a:lnTo>
                  <a:lnTo>
                    <a:pt x="593157" y="20556"/>
                  </a:lnTo>
                  <a:lnTo>
                    <a:pt x="549341" y="9289"/>
                  </a:lnTo>
                  <a:lnTo>
                    <a:pt x="503946" y="2360"/>
                  </a:lnTo>
                  <a:lnTo>
                    <a:pt x="457200" y="0"/>
                  </a:lnTo>
                  <a:lnTo>
                    <a:pt x="410454" y="2360"/>
                  </a:lnTo>
                  <a:lnTo>
                    <a:pt x="365058" y="9289"/>
                  </a:lnTo>
                  <a:lnTo>
                    <a:pt x="321243" y="20556"/>
                  </a:lnTo>
                  <a:lnTo>
                    <a:pt x="279238" y="35931"/>
                  </a:lnTo>
                  <a:lnTo>
                    <a:pt x="239272" y="55184"/>
                  </a:lnTo>
                  <a:lnTo>
                    <a:pt x="201577" y="78085"/>
                  </a:lnTo>
                  <a:lnTo>
                    <a:pt x="166380" y="104405"/>
                  </a:lnTo>
                  <a:lnTo>
                    <a:pt x="133913" y="133913"/>
                  </a:lnTo>
                  <a:lnTo>
                    <a:pt x="104405" y="166380"/>
                  </a:lnTo>
                  <a:lnTo>
                    <a:pt x="78085" y="201577"/>
                  </a:lnTo>
                  <a:lnTo>
                    <a:pt x="55184" y="239272"/>
                  </a:lnTo>
                  <a:lnTo>
                    <a:pt x="35931" y="279238"/>
                  </a:lnTo>
                  <a:lnTo>
                    <a:pt x="20556" y="321243"/>
                  </a:lnTo>
                  <a:lnTo>
                    <a:pt x="9289" y="365058"/>
                  </a:lnTo>
                  <a:lnTo>
                    <a:pt x="2360" y="410453"/>
                  </a:lnTo>
                  <a:lnTo>
                    <a:pt x="0" y="457200"/>
                  </a:lnTo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5103028" y="6965981"/>
            <a:ext cx="27368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400" spc="-90" b="1">
                <a:solidFill>
                  <a:srgbClr val="FFFFFF"/>
                </a:solidFill>
                <a:latin typeface="Tahoma"/>
                <a:cs typeface="Tahoma"/>
              </a:rPr>
              <a:t>E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666750" y="7410449"/>
            <a:ext cx="9810750" cy="742950"/>
          </a:xfrm>
          <a:custGeom>
            <a:avLst/>
            <a:gdLst/>
            <a:ahLst/>
            <a:cxnLst/>
            <a:rect l="l" t="t" r="r" b="b"/>
            <a:pathLst>
              <a:path w="9810750" h="742950">
                <a:moveTo>
                  <a:pt x="9753600" y="742950"/>
                </a:moveTo>
                <a:lnTo>
                  <a:pt x="57150" y="742950"/>
                </a:lnTo>
                <a:lnTo>
                  <a:pt x="34905" y="738460"/>
                </a:lnTo>
                <a:lnTo>
                  <a:pt x="16739" y="726216"/>
                </a:lnTo>
                <a:lnTo>
                  <a:pt x="4491" y="708051"/>
                </a:lnTo>
                <a:lnTo>
                  <a:pt x="0" y="685800"/>
                </a:lnTo>
                <a:lnTo>
                  <a:pt x="0" y="57150"/>
                </a:lnTo>
                <a:lnTo>
                  <a:pt x="4491" y="34898"/>
                </a:lnTo>
                <a:lnTo>
                  <a:pt x="16739" y="16733"/>
                </a:lnTo>
                <a:lnTo>
                  <a:pt x="34905" y="4489"/>
                </a:lnTo>
                <a:lnTo>
                  <a:pt x="57150" y="0"/>
                </a:lnTo>
                <a:lnTo>
                  <a:pt x="9753600" y="0"/>
                </a:lnTo>
                <a:lnTo>
                  <a:pt x="9775851" y="4489"/>
                </a:lnTo>
                <a:lnTo>
                  <a:pt x="9794016" y="16733"/>
                </a:lnTo>
                <a:lnTo>
                  <a:pt x="9806260" y="34898"/>
                </a:lnTo>
                <a:lnTo>
                  <a:pt x="9810750" y="57150"/>
                </a:lnTo>
                <a:lnTo>
                  <a:pt x="9810750" y="685800"/>
                </a:lnTo>
                <a:lnTo>
                  <a:pt x="9806260" y="708051"/>
                </a:lnTo>
                <a:lnTo>
                  <a:pt x="9794016" y="726216"/>
                </a:lnTo>
                <a:lnTo>
                  <a:pt x="9775851" y="738460"/>
                </a:lnTo>
                <a:lnTo>
                  <a:pt x="9753600" y="742950"/>
                </a:lnTo>
                <a:close/>
              </a:path>
            </a:pathLst>
          </a:custGeom>
          <a:solidFill>
            <a:srgbClr val="0F2E4A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1" name="object 71"/>
          <p:cNvGraphicFramePr>
            <a:graphicFrameLocks noGrp="1"/>
          </p:cNvGraphicFramePr>
          <p:nvPr/>
        </p:nvGraphicFramePr>
        <p:xfrm>
          <a:off x="1238795" y="3938777"/>
          <a:ext cx="4123054" cy="4114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85"/>
                <a:gridCol w="2155190"/>
                <a:gridCol w="958214"/>
              </a:tblGrid>
              <a:tr h="685800">
                <a:tc>
                  <a:txBody>
                    <a:bodyPr/>
                    <a:lstStyle/>
                    <a:p>
                      <a:pPr marL="31750">
                        <a:lnSpc>
                          <a:spcPts val="3560"/>
                        </a:lnSpc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ts val="3560"/>
                        </a:lnSpc>
                      </a:pPr>
                      <a:r>
                        <a:rPr dirty="0" sz="3000" spc="15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A–</a:t>
                      </a:r>
                      <a:r>
                        <a:rPr dirty="0" sz="3000" spc="17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D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60"/>
                        </a:lnSpc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0"/>
                </a:tc>
              </a:tr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15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A–</a:t>
                      </a:r>
                      <a:r>
                        <a:rPr dirty="0" sz="3000" spc="12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</a:tr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13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B–</a:t>
                      </a:r>
                      <a:r>
                        <a:rPr dirty="0" sz="3000" spc="14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</a:tr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14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C–</a:t>
                      </a:r>
                      <a:r>
                        <a:rPr dirty="0" sz="3000" spc="-5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ct val="10000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</a:tr>
              <a:tr h="685800">
                <a:tc>
                  <a:txBody>
                    <a:bodyPr/>
                    <a:lstStyle/>
                    <a:p>
                      <a:pPr marL="31750">
                        <a:lnSpc>
                          <a:spcPts val="354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5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ctr" marR="15875">
                        <a:lnSpc>
                          <a:spcPts val="3540"/>
                        </a:lnSpc>
                        <a:spcBef>
                          <a:spcPts val="1760"/>
                        </a:spcBef>
                      </a:pPr>
                      <a:r>
                        <a:rPr dirty="0" sz="3000" spc="6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E–</a:t>
                      </a:r>
                      <a:r>
                        <a:rPr dirty="0" sz="3000" spc="75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F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3540"/>
                        </a:lnSpc>
                        <a:spcBef>
                          <a:spcPts val="1760"/>
                        </a:spcBef>
                      </a:pPr>
                      <a:r>
                        <a:rPr dirty="0" sz="3000" spc="-50" b="1">
                          <a:solidFill>
                            <a:srgbClr val="49BFCC"/>
                          </a:solidFill>
                          <a:latin typeface="Tahoma"/>
                          <a:cs typeface="Tahoma"/>
                        </a:rPr>
                        <a:t>7</a:t>
                      </a:r>
                      <a:endParaRPr sz="3000">
                        <a:latin typeface="Tahoma"/>
                        <a:cs typeface="Tahoma"/>
                      </a:endParaRPr>
                    </a:p>
                  </a:txBody>
                  <a:tcPr marL="0" marR="0" marB="0" marT="223520"/>
                </a:tc>
              </a:tr>
            </a:tbl>
          </a:graphicData>
        </a:graphic>
      </p:graphicFrame>
      <p:sp>
        <p:nvSpPr>
          <p:cNvPr id="72" name="object 72"/>
          <p:cNvSpPr txBox="1"/>
          <p:nvPr/>
        </p:nvSpPr>
        <p:spPr>
          <a:xfrm>
            <a:off x="6224686" y="7572395"/>
            <a:ext cx="202882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A,</a:t>
            </a:r>
            <a:r>
              <a:rPr dirty="0" sz="2500" spc="-1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20">
                <a:solidFill>
                  <a:srgbClr val="FFFFFF"/>
                </a:solidFill>
                <a:latin typeface="Tahoma"/>
                <a:cs typeface="Tahoma"/>
              </a:rPr>
              <a:t>B,</a:t>
            </a:r>
            <a:r>
              <a:rPr dirty="0" sz="25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C,</a:t>
            </a:r>
            <a:r>
              <a:rPr dirty="0" sz="25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D,</a:t>
            </a:r>
            <a:r>
              <a:rPr dirty="0" sz="2500" spc="-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85">
                <a:solidFill>
                  <a:srgbClr val="FFFFFF"/>
                </a:solidFill>
                <a:latin typeface="Tahoma"/>
                <a:cs typeface="Tahoma"/>
              </a:rPr>
              <a:t>E,</a:t>
            </a:r>
            <a:r>
              <a:rPr dirty="0" sz="250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50">
                <a:solidFill>
                  <a:srgbClr val="FFFFFF"/>
                </a:solidFill>
                <a:latin typeface="Tahoma"/>
                <a:cs typeface="Tahoma"/>
              </a:rPr>
              <a:t>F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324181" y="7569908"/>
            <a:ext cx="4972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5" b="1">
                <a:solidFill>
                  <a:srgbClr val="49BFCC"/>
                </a:solidFill>
                <a:latin typeface="Tahoma"/>
                <a:cs typeface="Tahoma"/>
              </a:rPr>
              <a:t>17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88800" y="8417723"/>
            <a:ext cx="4768215" cy="944244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>
              <a:lnSpc>
                <a:spcPts val="3510"/>
              </a:lnSpc>
              <a:spcBef>
                <a:spcPts val="390"/>
              </a:spcBef>
            </a:pPr>
            <a:r>
              <a:rPr dirty="0" sz="3100">
                <a:solidFill>
                  <a:srgbClr val="FEFEFE"/>
                </a:solidFill>
                <a:latin typeface="Tahoma"/>
                <a:cs typeface="Tahoma"/>
              </a:rPr>
              <a:t>Teal</a:t>
            </a:r>
            <a:r>
              <a:rPr dirty="0" sz="3100" spc="-9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 spc="-475">
                <a:solidFill>
                  <a:srgbClr val="FEFEFE"/>
                </a:solidFill>
                <a:latin typeface="Tahoma"/>
                <a:cs typeface="Tahoma"/>
              </a:rPr>
              <a:t>=</a:t>
            </a:r>
            <a:r>
              <a:rPr dirty="0" sz="3100" spc="-8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>
                <a:solidFill>
                  <a:srgbClr val="FEFEFE"/>
                </a:solidFill>
                <a:latin typeface="Tahoma"/>
                <a:cs typeface="Tahoma"/>
              </a:rPr>
              <a:t>selected</a:t>
            </a:r>
            <a:r>
              <a:rPr dirty="0" sz="3100" spc="-8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 spc="155">
                <a:solidFill>
                  <a:srgbClr val="FEFEFE"/>
                </a:solidFill>
                <a:latin typeface="Tahoma"/>
                <a:cs typeface="Tahoma"/>
              </a:rPr>
              <a:t>MST</a:t>
            </a:r>
            <a:r>
              <a:rPr dirty="0" sz="3100" spc="-9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>
                <a:solidFill>
                  <a:srgbClr val="FEFEFE"/>
                </a:solidFill>
                <a:latin typeface="Tahoma"/>
                <a:cs typeface="Tahoma"/>
              </a:rPr>
              <a:t>edge</a:t>
            </a:r>
            <a:r>
              <a:rPr dirty="0" sz="3100" spc="-8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 spc="-470">
                <a:solidFill>
                  <a:srgbClr val="FEFEFE"/>
                </a:solidFill>
                <a:latin typeface="Tahoma"/>
                <a:cs typeface="Tahoma"/>
              </a:rPr>
              <a:t>| </a:t>
            </a:r>
            <a:r>
              <a:rPr dirty="0" sz="3100">
                <a:solidFill>
                  <a:srgbClr val="FEFEFE"/>
                </a:solidFill>
                <a:latin typeface="Tahoma"/>
                <a:cs typeface="Tahoma"/>
              </a:rPr>
              <a:t>Subdued</a:t>
            </a:r>
            <a:r>
              <a:rPr dirty="0" sz="3100" spc="-7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 spc="-475">
                <a:solidFill>
                  <a:srgbClr val="FEFEFE"/>
                </a:solidFill>
                <a:latin typeface="Tahoma"/>
                <a:cs typeface="Tahoma"/>
              </a:rPr>
              <a:t>=</a:t>
            </a:r>
            <a:r>
              <a:rPr dirty="0" sz="3100" spc="-7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 spc="60">
                <a:solidFill>
                  <a:srgbClr val="FEFEFE"/>
                </a:solidFill>
                <a:latin typeface="Tahoma"/>
                <a:cs typeface="Tahoma"/>
              </a:rPr>
              <a:t>not</a:t>
            </a:r>
            <a:r>
              <a:rPr dirty="0" sz="3100" spc="-7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3100" spc="-10">
                <a:solidFill>
                  <a:srgbClr val="FEFEFE"/>
                </a:solidFill>
                <a:latin typeface="Tahoma"/>
                <a:cs typeface="Tahoma"/>
              </a:rPr>
              <a:t>selected</a:t>
            </a:r>
            <a:endParaRPr sz="3100">
              <a:latin typeface="Tahoma"/>
              <a:cs typeface="Tahoma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1239500" y="8620132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6250" y="0"/>
                </a:lnTo>
              </a:path>
            </a:pathLst>
          </a:custGeom>
          <a:ln w="66675">
            <a:solidFill>
              <a:srgbClr val="2DB1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1239500" y="9001125"/>
            <a:ext cx="476250" cy="0"/>
          </a:xfrm>
          <a:custGeom>
            <a:avLst/>
            <a:gdLst/>
            <a:ahLst/>
            <a:cxnLst/>
            <a:rect l="l" t="t" r="r" b="b"/>
            <a:pathLst>
              <a:path w="476250" h="0">
                <a:moveTo>
                  <a:pt x="0" y="0"/>
                </a:moveTo>
                <a:lnTo>
                  <a:pt x="476250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77470">
              <a:lnSpc>
                <a:spcPct val="100000"/>
              </a:lnSpc>
              <a:spcBef>
                <a:spcPts val="105"/>
              </a:spcBef>
            </a:pPr>
            <a:r>
              <a:rPr dirty="0" sz="2350"/>
              <a:t>Sanket</a:t>
            </a:r>
            <a:r>
              <a:rPr dirty="0" sz="2350" spc="-35"/>
              <a:t> </a:t>
            </a:r>
            <a:r>
              <a:rPr dirty="0" sz="2350"/>
              <a:t>Bhagat</a:t>
            </a:r>
            <a:r>
              <a:rPr dirty="0" sz="2350" spc="-30"/>
              <a:t> </a:t>
            </a:r>
            <a:r>
              <a:rPr dirty="0" sz="2350" spc="-310"/>
              <a:t>|</a:t>
            </a:r>
            <a:r>
              <a:rPr dirty="0" sz="2350" spc="-30"/>
              <a:t> </a:t>
            </a:r>
            <a:r>
              <a:rPr dirty="0" sz="2350" spc="55"/>
              <a:t>PRN:</a:t>
            </a:r>
            <a:r>
              <a:rPr dirty="0" sz="2350" spc="-35"/>
              <a:t> </a:t>
            </a:r>
            <a:r>
              <a:rPr dirty="0" sz="2350" spc="105"/>
              <a:t>26070521504</a:t>
            </a:r>
            <a:r>
              <a:rPr dirty="0" sz="2350" spc="-30"/>
              <a:t> </a:t>
            </a:r>
            <a:r>
              <a:rPr dirty="0" sz="2350" spc="-310"/>
              <a:t>|</a:t>
            </a:r>
            <a:r>
              <a:rPr dirty="0" sz="2350" spc="-30"/>
              <a:t> </a:t>
            </a:r>
            <a:r>
              <a:rPr dirty="0" sz="2350" spc="70"/>
              <a:t>Division</a:t>
            </a:r>
            <a:r>
              <a:rPr dirty="0" sz="2350" spc="-35"/>
              <a:t> </a:t>
            </a:r>
            <a:r>
              <a:rPr dirty="0" sz="2350" spc="155"/>
              <a:t>D</a:t>
            </a:r>
            <a:endParaRPr sz="23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7844" y="716300"/>
            <a:ext cx="6718300" cy="32880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955">
              <a:lnSpc>
                <a:spcPts val="6575"/>
              </a:lnSpc>
              <a:spcBef>
                <a:spcPts val="100"/>
              </a:spcBef>
            </a:pPr>
            <a:r>
              <a:rPr dirty="0" sz="5550" spc="-215" b="1">
                <a:solidFill>
                  <a:srgbClr val="FEFEFE"/>
                </a:solidFill>
                <a:latin typeface="Tahoma"/>
                <a:cs typeface="Tahoma"/>
              </a:rPr>
              <a:t>FINAL</a:t>
            </a:r>
            <a:r>
              <a:rPr dirty="0" sz="5550" spc="-20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5550" spc="-10" b="1">
                <a:solidFill>
                  <a:srgbClr val="FEFEFE"/>
                </a:solidFill>
                <a:latin typeface="Tahoma"/>
                <a:cs typeface="Tahoma"/>
              </a:rPr>
              <a:t>MINIMUM</a:t>
            </a:r>
            <a:endParaRPr sz="5550">
              <a:latin typeface="Tahoma"/>
              <a:cs typeface="Tahoma"/>
            </a:endParaRPr>
          </a:p>
          <a:p>
            <a:pPr marL="12700">
              <a:lnSpc>
                <a:spcPts val="7775"/>
              </a:lnSpc>
            </a:pPr>
            <a:r>
              <a:rPr dirty="0" sz="6550" spc="-145" b="1">
                <a:solidFill>
                  <a:srgbClr val="29B3A6"/>
                </a:solidFill>
                <a:latin typeface="Tahoma"/>
                <a:cs typeface="Tahoma"/>
              </a:rPr>
              <a:t>SPANNING</a:t>
            </a:r>
            <a:r>
              <a:rPr dirty="0" sz="6550" spc="-320" b="1">
                <a:solidFill>
                  <a:srgbClr val="29B3A6"/>
                </a:solidFill>
                <a:latin typeface="Tahoma"/>
                <a:cs typeface="Tahoma"/>
              </a:rPr>
              <a:t> </a:t>
            </a:r>
            <a:r>
              <a:rPr dirty="0" sz="6550" spc="-165" b="1">
                <a:solidFill>
                  <a:srgbClr val="29B3A6"/>
                </a:solidFill>
                <a:latin typeface="Tahoma"/>
                <a:cs typeface="Tahoma"/>
              </a:rPr>
              <a:t>TREE</a:t>
            </a:r>
            <a:endParaRPr sz="6550">
              <a:latin typeface="Tahoma"/>
              <a:cs typeface="Tahoma"/>
            </a:endParaRPr>
          </a:p>
          <a:p>
            <a:pPr marL="50800" marR="1088390">
              <a:lnSpc>
                <a:spcPct val="114700"/>
              </a:lnSpc>
              <a:spcBef>
                <a:spcPts val="4590"/>
              </a:spcBef>
            </a:pP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The</a:t>
            </a:r>
            <a:r>
              <a:rPr dirty="0" sz="2450" spc="-5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minimum</a:t>
            </a:r>
            <a:r>
              <a:rPr dirty="0" sz="2450" spc="-5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spanning</a:t>
            </a:r>
            <a:r>
              <a:rPr dirty="0" sz="2450" spc="-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tree</a:t>
            </a:r>
            <a:r>
              <a:rPr dirty="0" sz="2450" spc="-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connects</a:t>
            </a:r>
            <a:r>
              <a:rPr dirty="0" sz="2450" spc="-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25">
                <a:solidFill>
                  <a:srgbClr val="FEFEFE"/>
                </a:solidFill>
                <a:latin typeface="Tahoma"/>
                <a:cs typeface="Tahoma"/>
              </a:rPr>
              <a:t>all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vertices</a:t>
            </a:r>
            <a:r>
              <a:rPr dirty="0" sz="2450" spc="-6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55">
                <a:solidFill>
                  <a:srgbClr val="FEFEFE"/>
                </a:solidFill>
                <a:latin typeface="Tahoma"/>
                <a:cs typeface="Tahoma"/>
              </a:rPr>
              <a:t>with</a:t>
            </a:r>
            <a:r>
              <a:rPr dirty="0" sz="2450" spc="-7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>
                <a:solidFill>
                  <a:srgbClr val="FEFEFE"/>
                </a:solidFill>
                <a:latin typeface="Tahoma"/>
                <a:cs typeface="Tahoma"/>
              </a:rPr>
              <a:t>the</a:t>
            </a:r>
            <a:r>
              <a:rPr dirty="0" sz="2450" spc="-6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155" b="1">
                <a:solidFill>
                  <a:srgbClr val="3DBAAE"/>
                </a:solidFill>
                <a:latin typeface="Tahoma"/>
                <a:cs typeface="Tahoma"/>
              </a:rPr>
              <a:t>least</a:t>
            </a:r>
            <a:r>
              <a:rPr dirty="0" sz="2450" spc="-50" b="1">
                <a:solidFill>
                  <a:srgbClr val="3DBAAE"/>
                </a:solidFill>
                <a:latin typeface="Tahoma"/>
                <a:cs typeface="Tahoma"/>
              </a:rPr>
              <a:t> </a:t>
            </a:r>
            <a:r>
              <a:rPr dirty="0" sz="2450" spc="-130" b="1">
                <a:solidFill>
                  <a:srgbClr val="3DBAAE"/>
                </a:solidFill>
                <a:latin typeface="Tahoma"/>
                <a:cs typeface="Tahoma"/>
              </a:rPr>
              <a:t>total</a:t>
            </a:r>
            <a:r>
              <a:rPr dirty="0" sz="2450" spc="-55" b="1">
                <a:solidFill>
                  <a:srgbClr val="3DBAAE"/>
                </a:solidFill>
                <a:latin typeface="Tahoma"/>
                <a:cs typeface="Tahoma"/>
              </a:rPr>
              <a:t> </a:t>
            </a:r>
            <a:r>
              <a:rPr dirty="0" sz="2450" spc="-10" b="1">
                <a:solidFill>
                  <a:srgbClr val="3DBAAE"/>
                </a:solidFill>
                <a:latin typeface="Tahoma"/>
                <a:cs typeface="Tahoma"/>
              </a:rPr>
              <a:t>cost</a:t>
            </a:r>
            <a:r>
              <a:rPr dirty="0" sz="2450" spc="-10">
                <a:solidFill>
                  <a:srgbClr val="FEFEFE"/>
                </a:solidFill>
                <a:latin typeface="Tahoma"/>
                <a:cs typeface="Tahoma"/>
              </a:rPr>
              <a:t>.</a:t>
            </a:r>
            <a:endParaRPr sz="2450">
              <a:latin typeface="Tahoma"/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6573" y="4066702"/>
            <a:ext cx="6981825" cy="5153025"/>
            <a:chOff x="426573" y="4066702"/>
            <a:chExt cx="6981825" cy="5153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573" y="4066702"/>
              <a:ext cx="6981809" cy="51530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96980" y="4493056"/>
              <a:ext cx="228599" cy="19430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6573" y="6428018"/>
              <a:ext cx="6981809" cy="219059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8487735" y="426354"/>
            <a:ext cx="9153525" cy="8582025"/>
            <a:chOff x="8487735" y="426354"/>
            <a:chExt cx="9153525" cy="8582025"/>
          </a:xfrm>
        </p:grpSpPr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87735" y="426354"/>
              <a:ext cx="9153509" cy="858200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89322" y="1071335"/>
              <a:ext cx="1323974" cy="1285874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2553008" y="1051989"/>
            <a:ext cx="2692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30" b="1">
                <a:solidFill>
                  <a:srgbClr val="FEFEFE"/>
                </a:solidFill>
                <a:latin typeface="Tahoma"/>
                <a:cs typeface="Tahoma"/>
              </a:rPr>
              <a:t>3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66098" y="1350618"/>
            <a:ext cx="452120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75" b="1">
                <a:solidFill>
                  <a:srgbClr val="FEFEFE"/>
                </a:solidFill>
                <a:latin typeface="Tahoma"/>
                <a:cs typeface="Tahoma"/>
              </a:rPr>
              <a:t>A</a:t>
            </a:r>
            <a:endParaRPr sz="4700">
              <a:latin typeface="Tahoma"/>
              <a:cs typeface="Tahom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61321" y="1071335"/>
            <a:ext cx="1323974" cy="12858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4832607" y="1350618"/>
            <a:ext cx="427355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50" b="1">
                <a:solidFill>
                  <a:srgbClr val="FEFEFE"/>
                </a:solidFill>
                <a:latin typeface="Tahoma"/>
                <a:cs typeface="Tahoma"/>
              </a:rPr>
              <a:t>B</a:t>
            </a:r>
            <a:endParaRPr sz="47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789322" y="2142670"/>
            <a:ext cx="1323975" cy="3855085"/>
            <a:chOff x="9789322" y="2142670"/>
            <a:chExt cx="1323975" cy="3855085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45587" y="2142670"/>
              <a:ext cx="228599" cy="279082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89322" y="4711689"/>
              <a:ext cx="1323974" cy="128585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5258702" y="2934594"/>
            <a:ext cx="2692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55">
                <a:solidFill>
                  <a:srgbClr val="FEFEFE"/>
                </a:solidFill>
                <a:latin typeface="Tahoma"/>
                <a:cs typeface="Tahoma"/>
              </a:rPr>
              <a:t>4</a:t>
            </a:r>
            <a:endParaRPr sz="33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954469" y="3280993"/>
            <a:ext cx="2692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30" b="1">
                <a:solidFill>
                  <a:srgbClr val="FEFEFE"/>
                </a:solidFill>
                <a:latin typeface="Tahoma"/>
                <a:cs typeface="Tahoma"/>
              </a:rPr>
              <a:t>1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361321" y="2142670"/>
            <a:ext cx="1323975" cy="3229610"/>
            <a:chOff x="14361321" y="2142670"/>
            <a:chExt cx="1323975" cy="3229610"/>
          </a:xfrm>
        </p:grpSpPr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017586" y="2142670"/>
              <a:ext cx="228599" cy="193357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361321" y="3848069"/>
              <a:ext cx="1323974" cy="152399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4836874" y="4182056"/>
            <a:ext cx="419100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50" b="1">
                <a:solidFill>
                  <a:srgbClr val="FEFEFE"/>
                </a:solidFill>
                <a:latin typeface="Tahoma"/>
                <a:cs typeface="Tahoma"/>
              </a:rPr>
              <a:t>C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41367" y="4637183"/>
            <a:ext cx="2400300" cy="43364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>
              <a:lnSpc>
                <a:spcPts val="2340"/>
              </a:lnSpc>
              <a:spcBef>
                <a:spcPts val="95"/>
              </a:spcBef>
            </a:pPr>
            <a:r>
              <a:rPr dirty="0" sz="2050" spc="-20" b="1">
                <a:solidFill>
                  <a:srgbClr val="FEFEFE"/>
                </a:solidFill>
                <a:latin typeface="Tahoma"/>
                <a:cs typeface="Tahoma"/>
              </a:rPr>
              <a:t>TOTAL</a:t>
            </a:r>
            <a:r>
              <a:rPr dirty="0" sz="2050" spc="-10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050" spc="-20" b="1">
                <a:solidFill>
                  <a:srgbClr val="FEFEFE"/>
                </a:solidFill>
                <a:latin typeface="Tahoma"/>
                <a:cs typeface="Tahoma"/>
              </a:rPr>
              <a:t>COST</a:t>
            </a:r>
            <a:endParaRPr sz="2050">
              <a:latin typeface="Tahoma"/>
              <a:cs typeface="Tahoma"/>
            </a:endParaRPr>
          </a:p>
          <a:p>
            <a:pPr marL="221615">
              <a:lnSpc>
                <a:spcPts val="11940"/>
              </a:lnSpc>
            </a:pPr>
            <a:r>
              <a:rPr dirty="0" sz="10050" spc="-555" b="1">
                <a:solidFill>
                  <a:srgbClr val="29B3A6"/>
                </a:solidFill>
                <a:latin typeface="Tahoma"/>
                <a:cs typeface="Tahoma"/>
              </a:rPr>
              <a:t>17</a:t>
            </a:r>
            <a:endParaRPr sz="100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75"/>
              </a:spcBef>
            </a:pPr>
            <a:r>
              <a:rPr dirty="0" sz="2250" spc="-80" b="1">
                <a:solidFill>
                  <a:srgbClr val="29B3A6"/>
                </a:solidFill>
                <a:latin typeface="Tahoma"/>
                <a:cs typeface="Tahoma"/>
              </a:rPr>
              <a:t>SELECTED</a:t>
            </a:r>
            <a:r>
              <a:rPr dirty="0" sz="2250" spc="-100" b="1">
                <a:solidFill>
                  <a:srgbClr val="29B3A6"/>
                </a:solidFill>
                <a:latin typeface="Tahoma"/>
                <a:cs typeface="Tahoma"/>
              </a:rPr>
              <a:t> </a:t>
            </a:r>
            <a:r>
              <a:rPr dirty="0" sz="2250" spc="-45" b="1">
                <a:solidFill>
                  <a:srgbClr val="29B3A6"/>
                </a:solidFill>
                <a:latin typeface="Tahoma"/>
                <a:cs typeface="Tahoma"/>
              </a:rPr>
              <a:t>EDGES</a:t>
            </a:r>
            <a:endParaRPr sz="22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720"/>
              </a:spcBef>
            </a:pPr>
            <a:r>
              <a:rPr dirty="0" sz="2150" spc="105">
                <a:solidFill>
                  <a:srgbClr val="FEFEFE"/>
                </a:solidFill>
                <a:latin typeface="Tahoma"/>
                <a:cs typeface="Tahoma"/>
              </a:rPr>
              <a:t>A-</a:t>
            </a:r>
            <a:r>
              <a:rPr dirty="0" sz="2150" spc="190">
                <a:solidFill>
                  <a:srgbClr val="FEFEFE"/>
                </a:solidFill>
                <a:latin typeface="Tahoma"/>
                <a:cs typeface="Tahoma"/>
              </a:rPr>
              <a:t>D</a:t>
            </a:r>
            <a:r>
              <a:rPr dirty="0" sz="2150" spc="-114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FEFEFE"/>
                </a:solidFill>
                <a:latin typeface="Tahoma"/>
                <a:cs typeface="Tahoma"/>
              </a:rPr>
              <a:t>(1)</a:t>
            </a:r>
            <a:endParaRPr sz="21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90"/>
              </a:spcBef>
            </a:pPr>
            <a:r>
              <a:rPr dirty="0" sz="2150" spc="105">
                <a:solidFill>
                  <a:srgbClr val="FEFEFE"/>
                </a:solidFill>
                <a:latin typeface="Tahoma"/>
                <a:cs typeface="Tahoma"/>
              </a:rPr>
              <a:t>A-</a:t>
            </a:r>
            <a:r>
              <a:rPr dirty="0" sz="2150" spc="135">
                <a:solidFill>
                  <a:srgbClr val="FEFEFE"/>
                </a:solidFill>
                <a:latin typeface="Tahoma"/>
                <a:cs typeface="Tahoma"/>
              </a:rPr>
              <a:t>B</a:t>
            </a:r>
            <a:r>
              <a:rPr dirty="0" sz="2150" spc="-1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FEFEFE"/>
                </a:solidFill>
                <a:latin typeface="Tahoma"/>
                <a:cs typeface="Tahoma"/>
              </a:rPr>
              <a:t>(3)</a:t>
            </a:r>
            <a:endParaRPr sz="21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90"/>
              </a:spcBef>
            </a:pPr>
            <a:r>
              <a:rPr dirty="0" sz="2150" spc="80">
                <a:solidFill>
                  <a:srgbClr val="FEFEFE"/>
                </a:solidFill>
                <a:latin typeface="Tahoma"/>
                <a:cs typeface="Tahoma"/>
              </a:rPr>
              <a:t>B-</a:t>
            </a:r>
            <a:r>
              <a:rPr dirty="0" sz="2150" spc="165">
                <a:solidFill>
                  <a:srgbClr val="FEFEFE"/>
                </a:solidFill>
                <a:latin typeface="Tahoma"/>
                <a:cs typeface="Tahoma"/>
              </a:rPr>
              <a:t>C</a:t>
            </a:r>
            <a:r>
              <a:rPr dirty="0" sz="21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FEFEFE"/>
                </a:solidFill>
                <a:latin typeface="Tahoma"/>
                <a:cs typeface="Tahoma"/>
              </a:rPr>
              <a:t>(4)</a:t>
            </a:r>
            <a:endParaRPr sz="21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dirty="0" sz="2150" spc="95">
                <a:solidFill>
                  <a:srgbClr val="FEFEFE"/>
                </a:solidFill>
                <a:latin typeface="Tahoma"/>
                <a:cs typeface="Tahoma"/>
              </a:rPr>
              <a:t>C-</a:t>
            </a:r>
            <a:r>
              <a:rPr dirty="0" sz="2150">
                <a:solidFill>
                  <a:srgbClr val="FEFEFE"/>
                </a:solidFill>
                <a:latin typeface="Tahoma"/>
                <a:cs typeface="Tahoma"/>
              </a:rPr>
              <a:t>E</a:t>
            </a:r>
            <a:r>
              <a:rPr dirty="0" sz="2150" spc="-6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FEFEFE"/>
                </a:solidFill>
                <a:latin typeface="Tahoma"/>
                <a:cs typeface="Tahoma"/>
              </a:rPr>
              <a:t>(2)</a:t>
            </a:r>
            <a:endParaRPr sz="2150">
              <a:latin typeface="Tahoma"/>
              <a:cs typeface="Tahoma"/>
            </a:endParaRPr>
          </a:p>
          <a:p>
            <a:pPr marL="27940">
              <a:lnSpc>
                <a:spcPct val="100000"/>
              </a:lnSpc>
              <a:spcBef>
                <a:spcPts val="90"/>
              </a:spcBef>
            </a:pPr>
            <a:r>
              <a:rPr dirty="0" sz="2150">
                <a:solidFill>
                  <a:srgbClr val="FEFEFE"/>
                </a:solidFill>
                <a:latin typeface="Tahoma"/>
                <a:cs typeface="Tahoma"/>
              </a:rPr>
              <a:t>E-</a:t>
            </a:r>
            <a:r>
              <a:rPr dirty="0" sz="2150" spc="100">
                <a:solidFill>
                  <a:srgbClr val="FEFEFE"/>
                </a:solidFill>
                <a:latin typeface="Tahoma"/>
                <a:cs typeface="Tahoma"/>
              </a:rPr>
              <a:t>F</a:t>
            </a:r>
            <a:r>
              <a:rPr dirty="0" sz="2150" spc="-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150" spc="-25">
                <a:solidFill>
                  <a:srgbClr val="FEFEFE"/>
                </a:solidFill>
                <a:latin typeface="Tahoma"/>
                <a:cs typeface="Tahoma"/>
              </a:rPr>
              <a:t>(7)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219053" y="4637183"/>
            <a:ext cx="2694940" cy="1746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R="27305">
              <a:lnSpc>
                <a:spcPts val="2405"/>
              </a:lnSpc>
              <a:spcBef>
                <a:spcPts val="95"/>
              </a:spcBef>
            </a:pPr>
            <a:r>
              <a:rPr dirty="0" sz="2050" spc="-85" b="1">
                <a:solidFill>
                  <a:srgbClr val="FEFEFE"/>
                </a:solidFill>
                <a:latin typeface="Tahoma"/>
                <a:cs typeface="Tahoma"/>
              </a:rPr>
              <a:t>EDGES</a:t>
            </a:r>
            <a:r>
              <a:rPr dirty="0" sz="2050" spc="-10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050" spc="-10" b="1">
                <a:solidFill>
                  <a:srgbClr val="FEFEFE"/>
                </a:solidFill>
                <a:latin typeface="Tahoma"/>
                <a:cs typeface="Tahoma"/>
              </a:rPr>
              <a:t>SELECTED</a:t>
            </a:r>
            <a:endParaRPr sz="2050">
              <a:latin typeface="Tahoma"/>
              <a:cs typeface="Tahoma"/>
            </a:endParaRPr>
          </a:p>
          <a:p>
            <a:pPr algn="ctr" marL="13335">
              <a:lnSpc>
                <a:spcPts val="8455"/>
              </a:lnSpc>
            </a:pPr>
            <a:r>
              <a:rPr dirty="0" sz="7100" spc="-459" b="1">
                <a:solidFill>
                  <a:srgbClr val="29B3A6"/>
                </a:solidFill>
                <a:latin typeface="Tahoma"/>
                <a:cs typeface="Tahoma"/>
              </a:rPr>
              <a:t>5</a:t>
            </a:r>
            <a:endParaRPr sz="7100">
              <a:latin typeface="Tahoma"/>
              <a:cs typeface="Tahoma"/>
            </a:endParaRPr>
          </a:p>
          <a:p>
            <a:pPr algn="ctr">
              <a:lnSpc>
                <a:spcPts val="2695"/>
              </a:lnSpc>
            </a:pPr>
            <a:r>
              <a:rPr dirty="0" sz="2250" spc="-330">
                <a:solidFill>
                  <a:srgbClr val="FEFEFE"/>
                </a:solidFill>
                <a:latin typeface="Tahoma"/>
                <a:cs typeface="Tahoma"/>
              </a:rPr>
              <a:t>=</a:t>
            </a:r>
            <a:r>
              <a:rPr dirty="0" sz="22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250" spc="185">
                <a:solidFill>
                  <a:srgbClr val="FEFEFE"/>
                </a:solidFill>
                <a:latin typeface="Tahoma"/>
                <a:cs typeface="Tahoma"/>
              </a:rPr>
              <a:t>V</a:t>
            </a:r>
            <a:r>
              <a:rPr dirty="0" sz="22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250" spc="85">
                <a:solidFill>
                  <a:srgbClr val="FEFEFE"/>
                </a:solidFill>
                <a:latin typeface="Tahoma"/>
                <a:cs typeface="Tahoma"/>
              </a:rPr>
              <a:t>–</a:t>
            </a:r>
            <a:r>
              <a:rPr dirty="0" sz="22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250" spc="85">
                <a:solidFill>
                  <a:srgbClr val="FEFEFE"/>
                </a:solidFill>
                <a:latin typeface="Tahoma"/>
                <a:cs typeface="Tahoma"/>
              </a:rPr>
              <a:t>1</a:t>
            </a:r>
            <a:r>
              <a:rPr dirty="0" sz="22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EFEFE"/>
                </a:solidFill>
                <a:latin typeface="Tahoma"/>
                <a:cs typeface="Tahoma"/>
              </a:rPr>
              <a:t>for</a:t>
            </a:r>
            <a:r>
              <a:rPr dirty="0" sz="2250" spc="-10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250" spc="85">
                <a:solidFill>
                  <a:srgbClr val="FEFEFE"/>
                </a:solidFill>
                <a:latin typeface="Tahoma"/>
                <a:cs typeface="Tahoma"/>
              </a:rPr>
              <a:t>6</a:t>
            </a:r>
            <a:r>
              <a:rPr dirty="0" sz="2250" spc="-10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EFEFE"/>
                </a:solidFill>
                <a:latin typeface="Tahoma"/>
                <a:cs typeface="Tahoma"/>
              </a:rPr>
              <a:t>vertices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51137" y="4935099"/>
            <a:ext cx="481965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50" b="1">
                <a:solidFill>
                  <a:srgbClr val="FEFEFE"/>
                </a:solidFill>
                <a:latin typeface="Tahoma"/>
                <a:cs typeface="Tahoma"/>
              </a:rPr>
              <a:t>D</a:t>
            </a:r>
            <a:endParaRPr sz="47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361321" y="5138043"/>
            <a:ext cx="1323975" cy="3221355"/>
            <a:chOff x="14361321" y="5138043"/>
            <a:chExt cx="1323975" cy="3221355"/>
          </a:xfrm>
        </p:grpSpPr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017586" y="5138043"/>
              <a:ext cx="228599" cy="19335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361321" y="6854342"/>
              <a:ext cx="1323974" cy="1504949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15258702" y="5841336"/>
            <a:ext cx="2692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-130" b="1">
                <a:solidFill>
                  <a:srgbClr val="FEFEFE"/>
                </a:solidFill>
                <a:latin typeface="Tahoma"/>
                <a:cs typeface="Tahoma"/>
              </a:rPr>
              <a:t>2</a:t>
            </a:r>
            <a:endParaRPr sz="33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789322" y="6854342"/>
            <a:ext cx="4799330" cy="1504950"/>
            <a:chOff x="9789322" y="6854342"/>
            <a:chExt cx="4799330" cy="1504950"/>
          </a:xfrm>
        </p:grpSpPr>
        <p:pic>
          <p:nvPicPr>
            <p:cNvPr id="27" name="object 2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883097" y="7499344"/>
              <a:ext cx="3705209" cy="2190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89322" y="6854342"/>
              <a:ext cx="1323974" cy="150494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0309303" y="7224345"/>
            <a:ext cx="365760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50" b="1">
                <a:solidFill>
                  <a:srgbClr val="FEFEFE"/>
                </a:solidFill>
                <a:latin typeface="Tahoma"/>
                <a:cs typeface="Tahoma"/>
              </a:rPr>
              <a:t>F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861740" y="7224345"/>
            <a:ext cx="369570" cy="745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700" spc="-135" b="1">
                <a:solidFill>
                  <a:srgbClr val="FEFEFE"/>
                </a:solidFill>
                <a:latin typeface="Tahoma"/>
                <a:cs typeface="Tahoma"/>
              </a:rPr>
              <a:t>E</a:t>
            </a:r>
            <a:endParaRPr sz="4700">
              <a:latin typeface="Tahoma"/>
              <a:cs typeface="Tahom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2553008" y="7769125"/>
            <a:ext cx="269240" cy="528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spc="55">
                <a:solidFill>
                  <a:srgbClr val="FEFEFE"/>
                </a:solidFill>
                <a:latin typeface="Tahoma"/>
                <a:cs typeface="Tahoma"/>
              </a:rPr>
              <a:t>7</a:t>
            </a:r>
            <a:endParaRPr sz="33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dirty="0"/>
              <a:t>Sanket</a:t>
            </a:r>
            <a:r>
              <a:rPr dirty="0" spc="-55"/>
              <a:t> </a:t>
            </a:r>
            <a:r>
              <a:rPr dirty="0"/>
              <a:t>Bhagat</a:t>
            </a:r>
            <a:r>
              <a:rPr dirty="0" spc="-55"/>
              <a:t> </a:t>
            </a:r>
            <a:r>
              <a:rPr dirty="0" spc="-305"/>
              <a:t>|</a:t>
            </a:r>
            <a:r>
              <a:rPr dirty="0" spc="-50"/>
              <a:t> </a:t>
            </a:r>
            <a:r>
              <a:rPr dirty="0"/>
              <a:t>PRN:</a:t>
            </a:r>
            <a:r>
              <a:rPr dirty="0" spc="-55"/>
              <a:t> </a:t>
            </a:r>
            <a:r>
              <a:rPr dirty="0" spc="80"/>
              <a:t>26070521504</a:t>
            </a:r>
            <a:r>
              <a:rPr dirty="0" spc="-55"/>
              <a:t> </a:t>
            </a:r>
            <a:r>
              <a:rPr dirty="0" spc="-305"/>
              <a:t>|</a:t>
            </a:r>
            <a:r>
              <a:rPr dirty="0" spc="-50"/>
              <a:t> </a:t>
            </a:r>
            <a:r>
              <a:rPr dirty="0"/>
              <a:t>Division</a:t>
            </a:r>
            <a:r>
              <a:rPr dirty="0" spc="-55"/>
              <a:t> </a:t>
            </a:r>
            <a:r>
              <a:rPr dirty="0" spc="145"/>
              <a:t>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25256" y="339930"/>
            <a:ext cx="9200515" cy="1639570"/>
          </a:xfrm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12700" marR="5080">
              <a:lnSpc>
                <a:spcPts val="6040"/>
              </a:lnSpc>
              <a:spcBef>
                <a:spcPts val="820"/>
              </a:spcBef>
            </a:pPr>
            <a:r>
              <a:rPr dirty="0" sz="5550" spc="-305"/>
              <a:t>Applications</a:t>
            </a:r>
            <a:r>
              <a:rPr dirty="0" sz="5550" spc="-275"/>
              <a:t> </a:t>
            </a:r>
            <a:r>
              <a:rPr dirty="0" sz="5550" spc="-440"/>
              <a:t>and</a:t>
            </a:r>
            <a:r>
              <a:rPr dirty="0" sz="5550" spc="-260"/>
              <a:t> </a:t>
            </a:r>
            <a:r>
              <a:rPr dirty="0" sz="5550" spc="-370"/>
              <a:t>Comparison </a:t>
            </a:r>
            <a:r>
              <a:rPr dirty="0" sz="5550" spc="-365"/>
              <a:t>with</a:t>
            </a:r>
            <a:r>
              <a:rPr dirty="0" sz="5550" spc="-265"/>
              <a:t> </a:t>
            </a:r>
            <a:r>
              <a:rPr dirty="0" sz="5550" spc="-360">
                <a:solidFill>
                  <a:srgbClr val="40C6B8"/>
                </a:solidFill>
              </a:rPr>
              <a:t>Dijkstra’s</a:t>
            </a:r>
            <a:r>
              <a:rPr dirty="0" sz="5550" spc="-265">
                <a:solidFill>
                  <a:srgbClr val="40C6B8"/>
                </a:solidFill>
              </a:rPr>
              <a:t> </a:t>
            </a:r>
            <a:r>
              <a:rPr dirty="0" sz="5550" spc="-350">
                <a:solidFill>
                  <a:srgbClr val="40C6B8"/>
                </a:solidFill>
              </a:rPr>
              <a:t>Algorithm</a:t>
            </a:r>
            <a:endParaRPr sz="555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328" y="2350376"/>
            <a:ext cx="2409824" cy="22859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45328" y="2776727"/>
            <a:ext cx="7639050" cy="6229350"/>
            <a:chOff x="645328" y="2776727"/>
            <a:chExt cx="7639050" cy="62293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328" y="2776727"/>
              <a:ext cx="7639049" cy="622934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328" y="2776727"/>
              <a:ext cx="3495690" cy="622934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4435596" y="3550629"/>
            <a:ext cx="251841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95" b="1">
                <a:solidFill>
                  <a:srgbClr val="40C6B8"/>
                </a:solidFill>
                <a:latin typeface="Tahoma"/>
                <a:cs typeface="Tahoma"/>
              </a:rPr>
              <a:t>APPLICATIONS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9471" y="4551538"/>
            <a:ext cx="2106930" cy="371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60">
                <a:solidFill>
                  <a:srgbClr val="F5F5F5"/>
                </a:solidFill>
                <a:latin typeface="Tahoma"/>
                <a:cs typeface="Tahoma"/>
              </a:rPr>
              <a:t>Network</a:t>
            </a:r>
            <a:r>
              <a:rPr dirty="0" sz="2250" spc="-10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cabling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28931" y="5510604"/>
            <a:ext cx="3151505" cy="3575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>
                <a:solidFill>
                  <a:srgbClr val="F5F5F5"/>
                </a:solidFill>
                <a:latin typeface="Tahoma"/>
                <a:cs typeface="Tahoma"/>
              </a:rPr>
              <a:t>Communication</a:t>
            </a:r>
            <a:r>
              <a:rPr dirty="0" sz="2150" spc="31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150" spc="-10">
                <a:solidFill>
                  <a:srgbClr val="F5F5F5"/>
                </a:solidFill>
                <a:latin typeface="Tahoma"/>
                <a:cs typeface="Tahoma"/>
              </a:rPr>
              <a:t>networks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3117" y="7458280"/>
            <a:ext cx="1755775" cy="371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 spc="45">
                <a:solidFill>
                  <a:srgbClr val="F5F5F5"/>
                </a:solidFill>
                <a:latin typeface="Tahoma"/>
                <a:cs typeface="Tahoma"/>
              </a:rPr>
              <a:t>Circuit</a:t>
            </a:r>
            <a:r>
              <a:rPr dirty="0" sz="2250" spc="-1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design</a:t>
            </a:r>
            <a:endParaRPr sz="225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268980" y="2350376"/>
            <a:ext cx="9372600" cy="5581650"/>
            <a:chOff x="8268980" y="2350376"/>
            <a:chExt cx="9372600" cy="558165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68980" y="2350376"/>
              <a:ext cx="9372599" cy="55816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68980" y="2350376"/>
              <a:ext cx="9372599" cy="87629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893602" y="2581686"/>
            <a:ext cx="233108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50" b="1">
                <a:solidFill>
                  <a:srgbClr val="F5F5F5"/>
                </a:solidFill>
                <a:latin typeface="Tahoma"/>
                <a:cs typeface="Tahoma"/>
              </a:rPr>
              <a:t>Prim's</a:t>
            </a:r>
            <a:r>
              <a:rPr dirty="0" sz="2400" spc="-130" b="1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-105" b="1">
                <a:solidFill>
                  <a:srgbClr val="F5F5F5"/>
                </a:solidFill>
                <a:latin typeface="Tahoma"/>
                <a:cs typeface="Tahoma"/>
              </a:rPr>
              <a:t>Algorithm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076985" y="2581686"/>
            <a:ext cx="277114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45" b="1">
                <a:solidFill>
                  <a:srgbClr val="F5F5F5"/>
                </a:solidFill>
                <a:latin typeface="Tahoma"/>
                <a:cs typeface="Tahoma"/>
              </a:rPr>
              <a:t>Dijkstra's</a:t>
            </a:r>
            <a:r>
              <a:rPr dirty="0" sz="2400" spc="-90" b="1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400" spc="-110" b="1">
                <a:solidFill>
                  <a:srgbClr val="F5F5F5"/>
                </a:solidFill>
                <a:latin typeface="Tahoma"/>
                <a:cs typeface="Tahoma"/>
              </a:rPr>
              <a:t>Algorithm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20534" y="3575706"/>
            <a:ext cx="1339215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-100" b="1">
                <a:solidFill>
                  <a:srgbClr val="40C6B8"/>
                </a:solidFill>
                <a:latin typeface="Tahoma"/>
                <a:cs typeface="Tahoma"/>
              </a:rPr>
              <a:t>Objective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17237" y="3305142"/>
            <a:ext cx="1935480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Finds</a:t>
            </a:r>
            <a:r>
              <a:rPr dirty="0" sz="2250" spc="-4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minimum </a:t>
            </a:r>
            <a:r>
              <a:rPr dirty="0" sz="2250" spc="-20">
                <a:solidFill>
                  <a:srgbClr val="F5F5F5"/>
                </a:solidFill>
                <a:latin typeface="Tahoma"/>
                <a:cs typeface="Tahoma"/>
              </a:rPr>
              <a:t>spanning</a:t>
            </a:r>
            <a:r>
              <a:rPr dirty="0" sz="2250" spc="-12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20">
                <a:solidFill>
                  <a:srgbClr val="F5F5F5"/>
                </a:solidFill>
                <a:latin typeface="Tahoma"/>
                <a:cs typeface="Tahoma"/>
              </a:rPr>
              <a:t>tree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105135" y="3305142"/>
            <a:ext cx="256476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Finds</a:t>
            </a:r>
            <a:r>
              <a:rPr dirty="0" sz="22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shortest</a:t>
            </a:r>
            <a:r>
              <a:rPr dirty="0" sz="22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20">
                <a:solidFill>
                  <a:srgbClr val="F5F5F5"/>
                </a:solidFill>
                <a:latin typeface="Tahoma"/>
                <a:cs typeface="Tahoma"/>
              </a:rPr>
              <a:t>paths </a:t>
            </a: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from</a:t>
            </a:r>
            <a:r>
              <a:rPr dirty="0" sz="2250" spc="-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source</a:t>
            </a:r>
            <a:r>
              <a:rPr dirty="0" sz="2250" spc="-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vertex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720534" y="4720330"/>
            <a:ext cx="1310640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-120" b="1">
                <a:solidFill>
                  <a:srgbClr val="40C6B8"/>
                </a:solidFill>
                <a:latin typeface="Tahoma"/>
                <a:cs typeface="Tahoma"/>
              </a:rPr>
              <a:t>Coverage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917237" y="4479888"/>
            <a:ext cx="156273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Connects</a:t>
            </a:r>
            <a:r>
              <a:rPr dirty="0" sz="2250" spc="8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25">
                <a:solidFill>
                  <a:srgbClr val="F5F5F5"/>
                </a:solidFill>
                <a:latin typeface="Tahoma"/>
                <a:cs typeface="Tahoma"/>
              </a:rPr>
              <a:t>all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vertices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4105135" y="4479888"/>
            <a:ext cx="165417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Path-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specific distances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720534" y="5864954"/>
            <a:ext cx="1791335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-110" b="1">
                <a:solidFill>
                  <a:srgbClr val="40C6B8"/>
                </a:solidFill>
                <a:latin typeface="Tahoma"/>
                <a:cs typeface="Tahoma"/>
              </a:rPr>
              <a:t>Optimization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917237" y="5639572"/>
            <a:ext cx="1946275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Minimizes</a:t>
            </a:r>
            <a:r>
              <a:rPr dirty="0" sz="2250" spc="19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20">
                <a:solidFill>
                  <a:srgbClr val="F5F5F5"/>
                </a:solidFill>
                <a:latin typeface="Tahoma"/>
                <a:cs typeface="Tahoma"/>
              </a:rPr>
              <a:t>total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edge</a:t>
            </a:r>
            <a:r>
              <a:rPr dirty="0" sz="2250" spc="-1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weight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05135" y="5639572"/>
            <a:ext cx="2414270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Minimizes</a:t>
            </a:r>
            <a:r>
              <a:rPr dirty="0" sz="2250" spc="19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distance </a:t>
            </a: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from</a:t>
            </a:r>
            <a:r>
              <a:rPr dirty="0" sz="2250" spc="-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source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431055" y="6509446"/>
            <a:ext cx="2917190" cy="3714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Infrastructure</a:t>
            </a:r>
            <a:r>
              <a:rPr dirty="0" sz="2250" spc="-16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planning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20534" y="7009578"/>
            <a:ext cx="1010285" cy="3892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350" spc="-80" b="1">
                <a:solidFill>
                  <a:srgbClr val="40C6B8"/>
                </a:solidFill>
                <a:latin typeface="Tahoma"/>
                <a:cs typeface="Tahoma"/>
              </a:rPr>
              <a:t>Output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17237" y="6814318"/>
            <a:ext cx="2414270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Minimum</a:t>
            </a:r>
            <a:r>
              <a:rPr dirty="0" sz="2250" spc="1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spanning </a:t>
            </a:r>
            <a:r>
              <a:rPr dirty="0" sz="2250" spc="-20">
                <a:solidFill>
                  <a:srgbClr val="F5F5F5"/>
                </a:solidFill>
                <a:latin typeface="Tahoma"/>
                <a:cs typeface="Tahoma"/>
              </a:rPr>
              <a:t>tree</a:t>
            </a:r>
            <a:endParaRPr sz="2250">
              <a:latin typeface="Tahoma"/>
              <a:cs typeface="Tahom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105135" y="6814318"/>
            <a:ext cx="1824989" cy="810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00"/>
              </a:lnSpc>
              <a:spcBef>
                <a:spcPts val="100"/>
              </a:spcBef>
            </a:pP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Shortest</a:t>
            </a:r>
            <a:r>
              <a:rPr dirty="0" sz="2250" spc="-8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20">
                <a:solidFill>
                  <a:srgbClr val="F5F5F5"/>
                </a:solidFill>
                <a:latin typeface="Tahoma"/>
                <a:cs typeface="Tahoma"/>
              </a:rPr>
              <a:t>path </a:t>
            </a: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to</a:t>
            </a:r>
            <a:r>
              <a:rPr dirty="0" sz="2250" spc="-10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>
                <a:solidFill>
                  <a:srgbClr val="F5F5F5"/>
                </a:solidFill>
                <a:latin typeface="Tahoma"/>
                <a:cs typeface="Tahoma"/>
              </a:rPr>
              <a:t>each</a:t>
            </a:r>
            <a:r>
              <a:rPr dirty="0" sz="2250" spc="-10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250" spc="-10">
                <a:solidFill>
                  <a:srgbClr val="F5F5F5"/>
                </a:solidFill>
                <a:latin typeface="Tahoma"/>
                <a:cs typeface="Tahoma"/>
              </a:rPr>
              <a:t>vertex</a:t>
            </a:r>
            <a:endParaRPr sz="2250">
              <a:latin typeface="Tahoma"/>
              <a:cs typeface="Tahoma"/>
            </a:endParaRPr>
          </a:p>
        </p:txBody>
      </p:sp>
      <p:pic>
        <p:nvPicPr>
          <p:cNvPr id="25" name="object 2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268980" y="7925699"/>
            <a:ext cx="9372599" cy="128585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939541" y="8260807"/>
            <a:ext cx="7966709" cy="75819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2565400" marR="5080" indent="-2553335">
              <a:lnSpc>
                <a:spcPts val="2950"/>
              </a:lnSpc>
              <a:spcBef>
                <a:spcPts val="70"/>
              </a:spcBef>
            </a:pPr>
            <a:r>
              <a:rPr dirty="0" sz="2350">
                <a:solidFill>
                  <a:srgbClr val="F5F5F5"/>
                </a:solidFill>
                <a:latin typeface="Tahoma"/>
                <a:cs typeface="Tahoma"/>
              </a:rPr>
              <a:t>Different</a:t>
            </a:r>
            <a:r>
              <a:rPr dirty="0" sz="23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 spc="-65">
                <a:solidFill>
                  <a:srgbClr val="40C6B8"/>
                </a:solidFill>
                <a:latin typeface="Tahoma"/>
                <a:cs typeface="Tahoma"/>
              </a:rPr>
              <a:t>goals</a:t>
            </a:r>
            <a:r>
              <a:rPr dirty="0" sz="2350" spc="-65">
                <a:solidFill>
                  <a:srgbClr val="F5F5F5"/>
                </a:solidFill>
                <a:latin typeface="Tahoma"/>
                <a:cs typeface="Tahoma"/>
              </a:rPr>
              <a:t>,</a:t>
            </a:r>
            <a:r>
              <a:rPr dirty="0" sz="235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>
                <a:solidFill>
                  <a:srgbClr val="F5F5F5"/>
                </a:solidFill>
                <a:latin typeface="Tahoma"/>
                <a:cs typeface="Tahoma"/>
              </a:rPr>
              <a:t>different</a:t>
            </a:r>
            <a:r>
              <a:rPr dirty="0" sz="23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 spc="-10">
                <a:solidFill>
                  <a:srgbClr val="40C6B8"/>
                </a:solidFill>
                <a:latin typeface="Tahoma"/>
                <a:cs typeface="Tahoma"/>
              </a:rPr>
              <a:t>results</a:t>
            </a:r>
            <a:r>
              <a:rPr dirty="0" sz="2350" spc="-50">
                <a:solidFill>
                  <a:srgbClr val="40C6B8"/>
                </a:solidFill>
                <a:latin typeface="Tahoma"/>
                <a:cs typeface="Tahoma"/>
              </a:rPr>
              <a:t> </a:t>
            </a:r>
            <a:r>
              <a:rPr dirty="0" sz="2350" spc="-280">
                <a:solidFill>
                  <a:srgbClr val="F5F5F5"/>
                </a:solidFill>
                <a:latin typeface="Tahoma"/>
                <a:cs typeface="Tahoma"/>
              </a:rPr>
              <a:t>—</a:t>
            </a:r>
            <a:r>
              <a:rPr dirty="0" sz="23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>
                <a:solidFill>
                  <a:srgbClr val="F5F5F5"/>
                </a:solidFill>
                <a:latin typeface="Tahoma"/>
                <a:cs typeface="Tahoma"/>
              </a:rPr>
              <a:t>choose</a:t>
            </a:r>
            <a:r>
              <a:rPr dirty="0" sz="235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350" spc="-5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 spc="-20">
                <a:solidFill>
                  <a:srgbClr val="F5F5F5"/>
                </a:solidFill>
                <a:latin typeface="Tahoma"/>
                <a:cs typeface="Tahoma"/>
              </a:rPr>
              <a:t>algorithm</a:t>
            </a:r>
            <a:r>
              <a:rPr dirty="0" sz="2350" spc="-5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 spc="-20">
                <a:solidFill>
                  <a:srgbClr val="F5F5F5"/>
                </a:solidFill>
                <a:latin typeface="Tahoma"/>
                <a:cs typeface="Tahoma"/>
              </a:rPr>
              <a:t>that matches</a:t>
            </a:r>
            <a:r>
              <a:rPr dirty="0" sz="2350" spc="-125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>
                <a:solidFill>
                  <a:srgbClr val="F5F5F5"/>
                </a:solidFill>
                <a:latin typeface="Tahoma"/>
                <a:cs typeface="Tahoma"/>
              </a:rPr>
              <a:t>the</a:t>
            </a:r>
            <a:r>
              <a:rPr dirty="0" sz="2350" spc="-120">
                <a:solidFill>
                  <a:srgbClr val="F5F5F5"/>
                </a:solidFill>
                <a:latin typeface="Tahoma"/>
                <a:cs typeface="Tahoma"/>
              </a:rPr>
              <a:t> </a:t>
            </a:r>
            <a:r>
              <a:rPr dirty="0" sz="2350" spc="-10">
                <a:solidFill>
                  <a:srgbClr val="F5F5F5"/>
                </a:solidFill>
                <a:latin typeface="Tahoma"/>
                <a:cs typeface="Tahoma"/>
              </a:rPr>
              <a:t>problem.</a:t>
            </a:r>
            <a:endParaRPr sz="235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9423379"/>
            <a:ext cx="18287999" cy="863626"/>
          </a:xfrm>
          <a:prstGeom prst="rect">
            <a:avLst/>
          </a:prstGeom>
        </p:spPr>
      </p:pic>
      <p:sp>
        <p:nvSpPr>
          <p:cNvPr id="33" name="object 3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0"/>
              </a:spcBef>
            </a:pPr>
            <a:r>
              <a:rPr dirty="0"/>
              <a:t>Sanket</a:t>
            </a:r>
            <a:r>
              <a:rPr dirty="0" spc="-55"/>
              <a:t> </a:t>
            </a:r>
            <a:r>
              <a:rPr dirty="0"/>
              <a:t>Bhagat</a:t>
            </a:r>
            <a:r>
              <a:rPr dirty="0" spc="-55"/>
              <a:t> </a:t>
            </a:r>
            <a:r>
              <a:rPr dirty="0" spc="-305"/>
              <a:t>|</a:t>
            </a:r>
            <a:r>
              <a:rPr dirty="0" spc="-50"/>
              <a:t> </a:t>
            </a:r>
            <a:r>
              <a:rPr dirty="0"/>
              <a:t>PRN:</a:t>
            </a:r>
            <a:r>
              <a:rPr dirty="0" spc="-55"/>
              <a:t> </a:t>
            </a:r>
            <a:r>
              <a:rPr dirty="0" spc="80"/>
              <a:t>26070521504</a:t>
            </a:r>
            <a:r>
              <a:rPr dirty="0" spc="-55"/>
              <a:t> </a:t>
            </a:r>
            <a:r>
              <a:rPr dirty="0" spc="-305"/>
              <a:t>|</a:t>
            </a:r>
            <a:r>
              <a:rPr dirty="0" spc="-50"/>
              <a:t> </a:t>
            </a:r>
            <a:r>
              <a:rPr dirty="0"/>
              <a:t>Division</a:t>
            </a:r>
            <a:r>
              <a:rPr dirty="0" spc="-55"/>
              <a:t> </a:t>
            </a:r>
            <a:r>
              <a:rPr dirty="0" spc="145"/>
              <a:t>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21133" y="888035"/>
            <a:ext cx="7522209" cy="1682114"/>
          </a:xfrm>
          <a:prstGeom prst="rect"/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6470"/>
              </a:lnSpc>
              <a:spcBef>
                <a:spcPts val="300"/>
              </a:spcBef>
            </a:pPr>
            <a:r>
              <a:rPr dirty="0" sz="5450" spc="325" b="0">
                <a:latin typeface="Tahoma"/>
                <a:cs typeface="Tahoma"/>
              </a:rPr>
              <a:t>CONCLUSION</a:t>
            </a:r>
            <a:r>
              <a:rPr dirty="0" sz="5450" spc="-200" b="0">
                <a:latin typeface="Tahoma"/>
                <a:cs typeface="Tahoma"/>
              </a:rPr>
              <a:t> </a:t>
            </a:r>
            <a:r>
              <a:rPr dirty="0" sz="5450" spc="475" b="0">
                <a:latin typeface="Tahoma"/>
                <a:cs typeface="Tahoma"/>
              </a:rPr>
              <a:t>AND </a:t>
            </a:r>
            <a:r>
              <a:rPr dirty="0" sz="5450" spc="409" b="0">
                <a:solidFill>
                  <a:srgbClr val="3CC1B4"/>
                </a:solidFill>
                <a:latin typeface="Tahoma"/>
                <a:cs typeface="Tahoma"/>
              </a:rPr>
              <a:t>ACKNOWLEDGEMENT</a:t>
            </a:r>
            <a:endParaRPr sz="545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6573" y="2776724"/>
            <a:ext cx="1543049" cy="2285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9955" y="3333961"/>
            <a:ext cx="6153785" cy="32378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 marR="198755">
              <a:lnSpc>
                <a:spcPct val="114799"/>
              </a:lnSpc>
              <a:spcBef>
                <a:spcPts val="95"/>
              </a:spcBef>
            </a:pPr>
            <a:r>
              <a:rPr dirty="0" sz="2550" spc="-45" b="1">
                <a:solidFill>
                  <a:srgbClr val="FEFEFE"/>
                </a:solidFill>
                <a:latin typeface="Tahoma"/>
                <a:cs typeface="Tahoma"/>
              </a:rPr>
              <a:t>MSTs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20" b="1">
                <a:solidFill>
                  <a:srgbClr val="FEFEFE"/>
                </a:solidFill>
                <a:latin typeface="Tahoma"/>
                <a:cs typeface="Tahoma"/>
              </a:rPr>
              <a:t>provide</a:t>
            </a:r>
            <a:r>
              <a:rPr dirty="0" sz="2550" spc="-4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30" b="1">
                <a:solidFill>
                  <a:srgbClr val="4EC6BA"/>
                </a:solidFill>
                <a:latin typeface="Tahoma"/>
                <a:cs typeface="Tahoma"/>
              </a:rPr>
              <a:t>optimal</a:t>
            </a:r>
            <a:r>
              <a:rPr dirty="0" sz="2550" spc="-70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120" b="1">
                <a:solidFill>
                  <a:srgbClr val="4EC6BA"/>
                </a:solidFill>
                <a:latin typeface="Tahoma"/>
                <a:cs typeface="Tahoma"/>
              </a:rPr>
              <a:t>connections</a:t>
            </a:r>
            <a:r>
              <a:rPr dirty="0" sz="2550" spc="-3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60" b="1">
                <a:solidFill>
                  <a:srgbClr val="FEFEFE"/>
                </a:solidFill>
                <a:latin typeface="Tahoma"/>
                <a:cs typeface="Tahoma"/>
              </a:rPr>
              <a:t>with </a:t>
            </a:r>
            <a:r>
              <a:rPr dirty="0" sz="2550" spc="-204" b="1">
                <a:solidFill>
                  <a:srgbClr val="FEFEFE"/>
                </a:solidFill>
                <a:latin typeface="Tahoma"/>
                <a:cs typeface="Tahoma"/>
              </a:rPr>
              <a:t>minimum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25" b="1">
                <a:solidFill>
                  <a:srgbClr val="FEFEFE"/>
                </a:solidFill>
                <a:latin typeface="Tahoma"/>
                <a:cs typeface="Tahoma"/>
              </a:rPr>
              <a:t>total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0" b="1">
                <a:solidFill>
                  <a:srgbClr val="FEFEFE"/>
                </a:solidFill>
                <a:latin typeface="Tahoma"/>
                <a:cs typeface="Tahoma"/>
              </a:rPr>
              <a:t>weight.</a:t>
            </a:r>
            <a:endParaRPr sz="2550">
              <a:latin typeface="Tahoma"/>
              <a:cs typeface="Tahoma"/>
            </a:endParaRPr>
          </a:p>
          <a:p>
            <a:pPr marL="14604" marR="242570">
              <a:lnSpc>
                <a:spcPct val="114799"/>
              </a:lnSpc>
              <a:spcBef>
                <a:spcPts val="2105"/>
              </a:spcBef>
            </a:pPr>
            <a:r>
              <a:rPr dirty="0" sz="2550" spc="-150" b="1">
                <a:solidFill>
                  <a:srgbClr val="FEFEFE"/>
                </a:solidFill>
                <a:latin typeface="Tahoma"/>
                <a:cs typeface="Tahoma"/>
              </a:rPr>
              <a:t>Prim’s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65" b="1">
                <a:solidFill>
                  <a:srgbClr val="FEFEFE"/>
                </a:solidFill>
                <a:latin typeface="Tahoma"/>
                <a:cs typeface="Tahoma"/>
              </a:rPr>
              <a:t>algorithm</a:t>
            </a:r>
            <a:r>
              <a:rPr dirty="0" sz="2550" spc="-5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50" b="1">
                <a:solidFill>
                  <a:srgbClr val="FEFEFE"/>
                </a:solidFill>
                <a:latin typeface="Tahoma"/>
                <a:cs typeface="Tahoma"/>
              </a:rPr>
              <a:t>builds</a:t>
            </a:r>
            <a:r>
              <a:rPr dirty="0" sz="2550" spc="-5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45" b="1">
                <a:solidFill>
                  <a:srgbClr val="FEFEFE"/>
                </a:solidFill>
                <a:latin typeface="Tahoma"/>
                <a:cs typeface="Tahoma"/>
              </a:rPr>
              <a:t>MSTs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80" b="1">
                <a:solidFill>
                  <a:srgbClr val="FEFEFE"/>
                </a:solidFill>
                <a:latin typeface="Tahoma"/>
                <a:cs typeface="Tahoma"/>
              </a:rPr>
              <a:t>efficiently </a:t>
            </a:r>
            <a:r>
              <a:rPr dirty="0" sz="2550" spc="-150" b="1">
                <a:solidFill>
                  <a:srgbClr val="FEFEFE"/>
                </a:solidFill>
                <a:latin typeface="Tahoma"/>
                <a:cs typeface="Tahoma"/>
              </a:rPr>
              <a:t>with</a:t>
            </a:r>
            <a:r>
              <a:rPr dirty="0" sz="2550" spc="-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235" b="1">
                <a:solidFill>
                  <a:srgbClr val="FEFEFE"/>
                </a:solidFill>
                <a:latin typeface="Tahoma"/>
                <a:cs typeface="Tahoma"/>
              </a:rPr>
              <a:t>a</a:t>
            </a:r>
            <a:r>
              <a:rPr dirty="0" sz="2550" spc="-3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35" b="1">
                <a:solidFill>
                  <a:srgbClr val="4EC6BA"/>
                </a:solidFill>
                <a:latin typeface="Tahoma"/>
                <a:cs typeface="Tahoma"/>
              </a:rPr>
              <a:t>greedy,</a:t>
            </a:r>
            <a:r>
              <a:rPr dirty="0" sz="2550" spc="-6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135" b="1">
                <a:solidFill>
                  <a:srgbClr val="4EC6BA"/>
                </a:solidFill>
                <a:latin typeface="Tahoma"/>
                <a:cs typeface="Tahoma"/>
              </a:rPr>
              <a:t>incremental</a:t>
            </a:r>
            <a:r>
              <a:rPr dirty="0" sz="2550" spc="-3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25" b="1">
                <a:solidFill>
                  <a:srgbClr val="FEFEFE"/>
                </a:solidFill>
                <a:latin typeface="Tahoma"/>
                <a:cs typeface="Tahoma"/>
              </a:rPr>
              <a:t>approach.</a:t>
            </a:r>
            <a:endParaRPr sz="2550">
              <a:latin typeface="Tahoma"/>
              <a:cs typeface="Tahoma"/>
            </a:endParaRPr>
          </a:p>
          <a:p>
            <a:pPr marL="12700" marR="5080">
              <a:lnSpc>
                <a:spcPct val="114799"/>
              </a:lnSpc>
              <a:spcBef>
                <a:spcPts val="2105"/>
              </a:spcBef>
            </a:pPr>
            <a:r>
              <a:rPr dirty="0" sz="2550" spc="-130" b="1">
                <a:solidFill>
                  <a:srgbClr val="FEFEFE"/>
                </a:solidFill>
                <a:latin typeface="Tahoma"/>
                <a:cs typeface="Tahoma"/>
              </a:rPr>
              <a:t>These</a:t>
            </a:r>
            <a:r>
              <a:rPr dirty="0" sz="2550" spc="-6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30" b="1">
                <a:solidFill>
                  <a:srgbClr val="FEFEFE"/>
                </a:solidFill>
                <a:latin typeface="Tahoma"/>
                <a:cs typeface="Tahoma"/>
              </a:rPr>
              <a:t>concepts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70" b="1">
                <a:solidFill>
                  <a:srgbClr val="FEFEFE"/>
                </a:solidFill>
                <a:latin typeface="Tahoma"/>
                <a:cs typeface="Tahoma"/>
              </a:rPr>
              <a:t>are</a:t>
            </a:r>
            <a:r>
              <a:rPr dirty="0" sz="2550" spc="-5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35" b="1">
                <a:solidFill>
                  <a:srgbClr val="FEFEFE"/>
                </a:solidFill>
                <a:latin typeface="Tahoma"/>
                <a:cs typeface="Tahoma"/>
              </a:rPr>
              <a:t>foundational</a:t>
            </a:r>
            <a:r>
              <a:rPr dirty="0" sz="2550" spc="-5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60" b="1">
                <a:solidFill>
                  <a:srgbClr val="FEFEFE"/>
                </a:solidFill>
                <a:latin typeface="Tahoma"/>
                <a:cs typeface="Tahoma"/>
              </a:rPr>
              <a:t>in</a:t>
            </a:r>
            <a:r>
              <a:rPr dirty="0" sz="255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85" b="1">
                <a:solidFill>
                  <a:srgbClr val="4EC6BA"/>
                </a:solidFill>
                <a:latin typeface="Tahoma"/>
                <a:cs typeface="Tahoma"/>
              </a:rPr>
              <a:t>graph </a:t>
            </a:r>
            <a:r>
              <a:rPr dirty="0" sz="2550" spc="-100" b="1">
                <a:solidFill>
                  <a:srgbClr val="4EC6BA"/>
                </a:solidFill>
                <a:latin typeface="Tahoma"/>
                <a:cs typeface="Tahoma"/>
              </a:rPr>
              <a:t>theory</a:t>
            </a:r>
            <a:r>
              <a:rPr dirty="0" sz="2550" spc="-3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185" b="1">
                <a:solidFill>
                  <a:srgbClr val="FEFEFE"/>
                </a:solidFill>
                <a:latin typeface="Tahoma"/>
                <a:cs typeface="Tahoma"/>
              </a:rPr>
              <a:t>and</a:t>
            </a:r>
            <a:r>
              <a:rPr dirty="0" sz="2550" spc="-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30" b="1">
                <a:solidFill>
                  <a:srgbClr val="4EC6BA"/>
                </a:solidFill>
                <a:latin typeface="Tahoma"/>
                <a:cs typeface="Tahoma"/>
              </a:rPr>
              <a:t>real-</a:t>
            </a:r>
            <a:r>
              <a:rPr dirty="0" sz="2550" spc="-114" b="1">
                <a:solidFill>
                  <a:srgbClr val="4EC6BA"/>
                </a:solidFill>
                <a:latin typeface="Tahoma"/>
                <a:cs typeface="Tahoma"/>
              </a:rPr>
              <a:t>world</a:t>
            </a:r>
            <a:r>
              <a:rPr dirty="0" sz="2550" spc="-70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35" b="1">
                <a:solidFill>
                  <a:srgbClr val="4EC6BA"/>
                </a:solidFill>
                <a:latin typeface="Tahoma"/>
                <a:cs typeface="Tahoma"/>
              </a:rPr>
              <a:t>applications</a:t>
            </a:r>
            <a:r>
              <a:rPr dirty="0" sz="2550" spc="-35" b="1">
                <a:solidFill>
                  <a:srgbClr val="FEFEFE"/>
                </a:solidFill>
                <a:latin typeface="Tahoma"/>
                <a:cs typeface="Tahoma"/>
              </a:rPr>
              <a:t>.</a:t>
            </a:r>
            <a:endParaRPr sz="255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87735" y="0"/>
            <a:ext cx="9800264" cy="707709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3738071" y="5390278"/>
            <a:ext cx="3508375" cy="1027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72390">
              <a:lnSpc>
                <a:spcPts val="5160"/>
              </a:lnSpc>
              <a:spcBef>
                <a:spcPts val="125"/>
              </a:spcBef>
            </a:pPr>
            <a:r>
              <a:rPr dirty="0" sz="4500" spc="345">
                <a:solidFill>
                  <a:srgbClr val="3CC1B4"/>
                </a:solidFill>
                <a:latin typeface="Tahoma"/>
                <a:cs typeface="Tahoma"/>
              </a:rPr>
              <a:t>THANK</a:t>
            </a:r>
            <a:r>
              <a:rPr dirty="0" sz="4500" spc="-160">
                <a:solidFill>
                  <a:srgbClr val="3CC1B4"/>
                </a:solidFill>
                <a:latin typeface="Tahoma"/>
                <a:cs typeface="Tahoma"/>
              </a:rPr>
              <a:t> </a:t>
            </a:r>
            <a:r>
              <a:rPr dirty="0" sz="4500" spc="335">
                <a:solidFill>
                  <a:srgbClr val="3CC1B4"/>
                </a:solidFill>
                <a:latin typeface="Tahoma"/>
                <a:cs typeface="Tahoma"/>
              </a:rPr>
              <a:t>YOU</a:t>
            </a:r>
            <a:endParaRPr sz="4500">
              <a:latin typeface="Tahoma"/>
              <a:cs typeface="Tahoma"/>
            </a:endParaRPr>
          </a:p>
          <a:p>
            <a:pPr marL="12700">
              <a:lnSpc>
                <a:spcPts val="2700"/>
              </a:lnSpc>
            </a:pPr>
            <a:r>
              <a:rPr dirty="0" sz="2450" spc="-30" b="1">
                <a:solidFill>
                  <a:srgbClr val="FEFEFE"/>
                </a:solidFill>
                <a:latin typeface="Tahoma"/>
                <a:cs typeface="Tahoma"/>
              </a:rPr>
              <a:t>FOR</a:t>
            </a:r>
            <a:r>
              <a:rPr dirty="0" sz="2450" spc="-14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20" b="1">
                <a:solidFill>
                  <a:srgbClr val="FEFEFE"/>
                </a:solidFill>
                <a:latin typeface="Tahoma"/>
                <a:cs typeface="Tahoma"/>
              </a:rPr>
              <a:t>YOUR</a:t>
            </a:r>
            <a:r>
              <a:rPr dirty="0" sz="2450" spc="-1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450" spc="-35" b="1">
                <a:solidFill>
                  <a:srgbClr val="FEFEFE"/>
                </a:solidFill>
                <a:latin typeface="Tahoma"/>
                <a:cs typeface="Tahoma"/>
              </a:rPr>
              <a:t>ATTENTION</a:t>
            </a:r>
            <a:endParaRPr sz="245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212" y="6858217"/>
            <a:ext cx="7105015" cy="9182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95"/>
              </a:spcBef>
            </a:pPr>
            <a:r>
              <a:rPr dirty="0" sz="2550" spc="-140" b="1">
                <a:solidFill>
                  <a:srgbClr val="FEFEFE"/>
                </a:solidFill>
                <a:latin typeface="Tahoma"/>
                <a:cs typeface="Tahoma"/>
              </a:rPr>
              <a:t>Understanding</a:t>
            </a:r>
            <a:r>
              <a:rPr dirty="0" sz="2550" spc="-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80" b="1">
                <a:solidFill>
                  <a:srgbClr val="FEFEFE"/>
                </a:solidFill>
                <a:latin typeface="Tahoma"/>
                <a:cs typeface="Tahoma"/>
              </a:rPr>
              <a:t>them</a:t>
            </a:r>
            <a:r>
              <a:rPr dirty="0" sz="2550" spc="-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65" b="1">
                <a:solidFill>
                  <a:srgbClr val="FEFEFE"/>
                </a:solidFill>
                <a:latin typeface="Tahoma"/>
                <a:cs typeface="Tahoma"/>
              </a:rPr>
              <a:t>enables</a:t>
            </a:r>
            <a:r>
              <a:rPr dirty="0" sz="2550" spc="-3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25" b="1">
                <a:solidFill>
                  <a:srgbClr val="FEFEFE"/>
                </a:solidFill>
                <a:latin typeface="Tahoma"/>
                <a:cs typeface="Tahoma"/>
              </a:rPr>
              <a:t>better</a:t>
            </a:r>
            <a:r>
              <a:rPr dirty="0" sz="2550" spc="-3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40" b="1">
                <a:solidFill>
                  <a:srgbClr val="FEFEFE"/>
                </a:solidFill>
                <a:latin typeface="Tahoma"/>
                <a:cs typeface="Tahoma"/>
              </a:rPr>
              <a:t>solutions</a:t>
            </a:r>
            <a:r>
              <a:rPr dirty="0" sz="2550" spc="-4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25" b="1">
                <a:solidFill>
                  <a:srgbClr val="FEFEFE"/>
                </a:solidFill>
                <a:latin typeface="Tahoma"/>
                <a:cs typeface="Tahoma"/>
              </a:rPr>
              <a:t>to </a:t>
            </a:r>
            <a:r>
              <a:rPr dirty="0" sz="2550" spc="-114" b="1">
                <a:solidFill>
                  <a:srgbClr val="4EC6BA"/>
                </a:solidFill>
                <a:latin typeface="Tahoma"/>
                <a:cs typeface="Tahoma"/>
              </a:rPr>
              <a:t>network</a:t>
            </a:r>
            <a:r>
              <a:rPr dirty="0" sz="2550" spc="-7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145" b="1">
                <a:solidFill>
                  <a:srgbClr val="4EC6BA"/>
                </a:solidFill>
                <a:latin typeface="Tahoma"/>
                <a:cs typeface="Tahoma"/>
              </a:rPr>
              <a:t>design</a:t>
            </a:r>
            <a:r>
              <a:rPr dirty="0" sz="2550" spc="-4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185" b="1">
                <a:solidFill>
                  <a:srgbClr val="FEFEFE"/>
                </a:solidFill>
                <a:latin typeface="Tahoma"/>
                <a:cs typeface="Tahoma"/>
              </a:rPr>
              <a:t>and</a:t>
            </a:r>
            <a:r>
              <a:rPr dirty="0" sz="2550" spc="-45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550" spc="-110" b="1">
                <a:solidFill>
                  <a:srgbClr val="4EC6BA"/>
                </a:solidFill>
                <a:latin typeface="Tahoma"/>
                <a:cs typeface="Tahoma"/>
              </a:rPr>
              <a:t>optimization</a:t>
            </a:r>
            <a:r>
              <a:rPr dirty="0" sz="2550" spc="-50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2550" spc="-20" b="1">
                <a:solidFill>
                  <a:srgbClr val="FEFEFE"/>
                </a:solidFill>
                <a:latin typeface="Tahoma"/>
                <a:cs typeface="Tahoma"/>
              </a:rPr>
              <a:t>problems.</a:t>
            </a:r>
            <a:endParaRPr sz="25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8659" y="8396019"/>
            <a:ext cx="2435860" cy="7816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285"/>
              </a:spcBef>
            </a:pPr>
            <a:r>
              <a:rPr dirty="0" sz="1700" spc="-30" b="1">
                <a:solidFill>
                  <a:srgbClr val="4EC6BA"/>
                </a:solidFill>
                <a:latin typeface="Tahoma"/>
                <a:cs typeface="Tahoma"/>
              </a:rPr>
              <a:t>PRESENTED</a:t>
            </a:r>
            <a:r>
              <a:rPr dirty="0" sz="1700" spc="-60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1700" spc="-25" b="1">
                <a:solidFill>
                  <a:srgbClr val="4EC6BA"/>
                </a:solidFill>
                <a:latin typeface="Tahoma"/>
                <a:cs typeface="Tahoma"/>
              </a:rPr>
              <a:t>BY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2900" spc="-204" b="1">
                <a:solidFill>
                  <a:srgbClr val="FEFEFE"/>
                </a:solidFill>
                <a:latin typeface="Tahoma"/>
                <a:cs typeface="Tahoma"/>
              </a:rPr>
              <a:t>Sanket</a:t>
            </a:r>
            <a:r>
              <a:rPr dirty="0" sz="2900" spc="-50" b="1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2900" spc="-175" b="1">
                <a:solidFill>
                  <a:srgbClr val="FEFEFE"/>
                </a:solidFill>
                <a:latin typeface="Tahoma"/>
                <a:cs typeface="Tahoma"/>
              </a:rPr>
              <a:t>Bhagat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696980" y="8352052"/>
            <a:ext cx="228599" cy="86675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4543745" y="8396019"/>
            <a:ext cx="2406650" cy="78168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285"/>
              </a:spcBef>
            </a:pPr>
            <a:r>
              <a:rPr dirty="0" sz="1700" spc="-25" b="1">
                <a:solidFill>
                  <a:srgbClr val="4EC6BA"/>
                </a:solidFill>
                <a:latin typeface="Tahoma"/>
                <a:cs typeface="Tahoma"/>
              </a:rPr>
              <a:t>PRN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dirty="0" sz="2900" spc="-150" b="1">
                <a:solidFill>
                  <a:srgbClr val="FEFEFE"/>
                </a:solidFill>
                <a:latin typeface="Tahoma"/>
                <a:cs typeface="Tahoma"/>
              </a:rPr>
              <a:t>26070521504</a:t>
            </a:r>
            <a:endParaRPr sz="2900">
              <a:latin typeface="Tahoma"/>
              <a:cs typeface="Tahom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93960" y="8352052"/>
            <a:ext cx="228599" cy="86675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8335132" y="8394652"/>
            <a:ext cx="1028065" cy="762635"/>
          </a:xfrm>
          <a:prstGeom prst="rect">
            <a:avLst/>
          </a:prstGeom>
        </p:spPr>
        <p:txBody>
          <a:bodyPr wrap="square" lIns="0" tIns="374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dirty="0" sz="1700" spc="-90" b="1">
                <a:solidFill>
                  <a:srgbClr val="4EC6BA"/>
                </a:solidFill>
                <a:latin typeface="Tahoma"/>
                <a:cs typeface="Tahoma"/>
              </a:rPr>
              <a:t>DIVISION</a:t>
            </a:r>
            <a:endParaRPr sz="1700">
              <a:latin typeface="Tahoma"/>
              <a:cs typeface="Tahoma"/>
            </a:endParaRPr>
          </a:p>
          <a:p>
            <a:pPr marL="19685">
              <a:lnSpc>
                <a:spcPct val="100000"/>
              </a:lnSpc>
              <a:spcBef>
                <a:spcPts val="265"/>
              </a:spcBef>
            </a:pPr>
            <a:r>
              <a:rPr dirty="0" sz="2750" spc="-50" b="1">
                <a:solidFill>
                  <a:srgbClr val="FEFEFE"/>
                </a:solidFill>
                <a:latin typeface="Tahoma"/>
                <a:cs typeface="Tahoma"/>
              </a:rPr>
              <a:t>D</a:t>
            </a:r>
            <a:endParaRPr sz="275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7062078"/>
            <a:ext cx="18288000" cy="3225165"/>
            <a:chOff x="0" y="7062078"/>
            <a:chExt cx="18288000" cy="322516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101852" y="7062078"/>
              <a:ext cx="228599" cy="237170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9423378"/>
              <a:ext cx="18287999" cy="863626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1715582" y="7073089"/>
            <a:ext cx="5787390" cy="71120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55244">
              <a:lnSpc>
                <a:spcPct val="100000"/>
              </a:lnSpc>
              <a:spcBef>
                <a:spcPts val="620"/>
              </a:spcBef>
            </a:pPr>
            <a:r>
              <a:rPr dirty="0" sz="1700" spc="-140" b="1">
                <a:solidFill>
                  <a:srgbClr val="4EC6BA"/>
                </a:solidFill>
                <a:latin typeface="Tahoma"/>
                <a:cs typeface="Tahoma"/>
              </a:rPr>
              <a:t>AI</a:t>
            </a:r>
            <a:r>
              <a:rPr dirty="0" sz="1700" spc="35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1700" b="1">
                <a:solidFill>
                  <a:srgbClr val="4EC6BA"/>
                </a:solidFill>
                <a:latin typeface="Tahoma"/>
                <a:cs typeface="Tahoma"/>
              </a:rPr>
              <a:t>TOOL</a:t>
            </a:r>
            <a:r>
              <a:rPr dirty="0" sz="1700" spc="40" b="1">
                <a:solidFill>
                  <a:srgbClr val="4EC6BA"/>
                </a:solidFill>
                <a:latin typeface="Tahoma"/>
                <a:cs typeface="Tahoma"/>
              </a:rPr>
              <a:t> </a:t>
            </a:r>
            <a:r>
              <a:rPr dirty="0" sz="1700" spc="-20" b="1">
                <a:solidFill>
                  <a:srgbClr val="4EC6BA"/>
                </a:solidFill>
                <a:latin typeface="Tahoma"/>
                <a:cs typeface="Tahoma"/>
              </a:rPr>
              <a:t>USED</a:t>
            </a:r>
            <a:endParaRPr sz="1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Canva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AI</a:t>
            </a:r>
            <a:r>
              <a:rPr dirty="0" sz="1900" spc="4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(Magic</a:t>
            </a:r>
            <a:r>
              <a:rPr dirty="0" sz="1900" spc="4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Design</a:t>
            </a:r>
            <a:r>
              <a:rPr dirty="0" sz="1900" spc="4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 spc="135">
                <a:solidFill>
                  <a:srgbClr val="FEFEFE"/>
                </a:solidFill>
                <a:latin typeface="Tahoma"/>
                <a:cs typeface="Tahoma"/>
              </a:rPr>
              <a:t>/</a:t>
            </a:r>
            <a:r>
              <a:rPr dirty="0" sz="1900" spc="4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AI</a:t>
            </a:r>
            <a:r>
              <a:rPr dirty="0" sz="1900" spc="4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Presentation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Generator)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715551" y="7990564"/>
            <a:ext cx="5856605" cy="128905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46355">
              <a:lnSpc>
                <a:spcPct val="100000"/>
              </a:lnSpc>
              <a:spcBef>
                <a:spcPts val="509"/>
              </a:spcBef>
            </a:pPr>
            <a:r>
              <a:rPr dirty="0" sz="1700" spc="-10" b="1">
                <a:solidFill>
                  <a:srgbClr val="4EC6BA"/>
                </a:solidFill>
                <a:latin typeface="Tahoma"/>
                <a:cs typeface="Tahoma"/>
              </a:rPr>
              <a:t>ACKNOWLEDGEMENT</a:t>
            </a:r>
            <a:endParaRPr sz="1700">
              <a:latin typeface="Tahoma"/>
              <a:cs typeface="Tahoma"/>
            </a:endParaRPr>
          </a:p>
          <a:p>
            <a:pPr marL="12700" marR="5080">
              <a:lnSpc>
                <a:spcPct val="104800"/>
              </a:lnSpc>
              <a:spcBef>
                <a:spcPts val="325"/>
              </a:spcBef>
            </a:pP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AI</a:t>
            </a:r>
            <a:r>
              <a:rPr dirty="0" sz="1900" spc="3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assistance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was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used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for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presentation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drafting</a:t>
            </a:r>
            <a:r>
              <a:rPr dirty="0" sz="1900" spc="3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FEFEFE"/>
                </a:solidFill>
                <a:latin typeface="Tahoma"/>
                <a:cs typeface="Tahoma"/>
              </a:rPr>
              <a:t>and 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design;</a:t>
            </a:r>
            <a:r>
              <a:rPr dirty="0" sz="1900" spc="-1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algorithm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calculations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and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diagrams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should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FEFEFE"/>
                </a:solidFill>
                <a:latin typeface="Tahoma"/>
                <a:cs typeface="Tahoma"/>
              </a:rPr>
              <a:t>be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verified</a:t>
            </a:r>
            <a:r>
              <a:rPr dirty="0" sz="1900" spc="150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FEFEFE"/>
                </a:solidFill>
                <a:latin typeface="Tahoma"/>
                <a:cs typeface="Tahoma"/>
              </a:rPr>
              <a:t>for</a:t>
            </a:r>
            <a:r>
              <a:rPr dirty="0" sz="1900" spc="155">
                <a:solidFill>
                  <a:srgbClr val="FEFEFE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FEFEFE"/>
                </a:solidFill>
                <a:latin typeface="Tahoma"/>
                <a:cs typeface="Tahoma"/>
              </a:rPr>
              <a:t>correctness.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/>
              <a:t>Sanket</a:t>
            </a:r>
            <a:r>
              <a:rPr dirty="0" spc="-10"/>
              <a:t> </a:t>
            </a:r>
            <a:r>
              <a:rPr dirty="0"/>
              <a:t>Bhagat</a:t>
            </a:r>
            <a:r>
              <a:rPr dirty="0" spc="-5"/>
              <a:t> </a:t>
            </a:r>
            <a:r>
              <a:rPr dirty="0" spc="-305"/>
              <a:t>|</a:t>
            </a:r>
            <a:r>
              <a:rPr dirty="0" spc="-5"/>
              <a:t> </a:t>
            </a:r>
            <a:r>
              <a:rPr dirty="0"/>
              <a:t>PRN:</a:t>
            </a:r>
            <a:r>
              <a:rPr dirty="0" spc="-10"/>
              <a:t> </a:t>
            </a:r>
            <a:r>
              <a:rPr dirty="0" spc="100"/>
              <a:t>26070521504</a:t>
            </a:r>
            <a:r>
              <a:rPr dirty="0" spc="-5"/>
              <a:t> </a:t>
            </a:r>
            <a:r>
              <a:rPr dirty="0" spc="-305"/>
              <a:t>|</a:t>
            </a:r>
            <a:r>
              <a:rPr dirty="0" spc="-5"/>
              <a:t> </a:t>
            </a:r>
            <a:r>
              <a:rPr dirty="0" spc="65"/>
              <a:t>Division</a:t>
            </a:r>
            <a:r>
              <a:rPr dirty="0" spc="-10"/>
              <a:t> </a:t>
            </a:r>
            <a:r>
              <a:rPr dirty="0" spc="145"/>
              <a:t>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u-63701770</dc:creator>
  <cp:keywords>DAHYeo3KT10,BAHYejGARDw</cp:keywords>
  <dc:title>Prim’s Algorithm MST</dc:title>
  <dcterms:created xsi:type="dcterms:W3CDTF">2026-10-20T09:19:04Z</dcterms:created>
  <dcterms:modified xsi:type="dcterms:W3CDTF">2026-10-20T09:19:04Z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2026-10-19T00:00:00Z</vt:filetime>
  </property>
  <property fmtid="{D5CDD505-2E9C-101B-9397-08002B2CF9AE}" pid="4" name="Creator">
    <vt:lpwstr>Canva</vt:lpwstr>
  </property>
  <property fmtid="{D5CDD505-2E9C-101B-9397-08002B2CF9AE}" pid="5" name="LastSaved">
    <vt:filetime>2026-10-20T00:00:00Z</vt:filetime>
  </property>
  <property fmtid="{D5CDD505-2E9C-101B-9397-08002B2CF9AE}" pid="6" name="Producer">
    <vt:lpwstr>iLovePDF</vt:lpwstr>
  </property>
  <property fmtid="{D5CDD505-2E9C-101B-9397-08002B2CF9AE}" pid="7" name="containsAiGeneratedContent">
    <vt:lpwstr>Yes</vt:lpwstr>
  </property>
</Properties>
</file>